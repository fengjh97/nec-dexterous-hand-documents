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5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5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-822960"/>
            <a:ext cx="5120640" cy="5120640"/>
          </a:xfrm>
          <a:prstGeom prst="arc">
            <a:avLst/>
          </a:prstGeom>
          <a:solidFill>
            <a:srgbClr val="76B900">
              <a:alpha val="22000"/>
            </a:srgbClr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4389120"/>
            <a:ext cx="4572000" cy="4572000"/>
          </a:xfrm>
          <a:prstGeom prst="arc">
            <a:avLst/>
          </a:prstGeom>
          <a:solidFill>
            <a:srgbClr val="0070C9">
              <a:alpha val="20000"/>
            </a:srgbClr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97280"/>
            <a:ext cx="5943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Physical AI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vs NVIDIA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8D2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一对一技术栈拆解：从 Physical Foundation Model 到工厂级约束控制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3429000"/>
            <a:ext cx="1234440" cy="246888"/>
          </a:xfrm>
          <a:prstGeom prst="rect">
            <a:avLst/>
          </a:prstGeom>
          <a:solidFill>
            <a:srgbClr val="102015"/>
          </a:solidFill>
          <a:ln w="12700">
            <a:solidFill>
              <a:srgbClr val="76B900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6B9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核心结论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49808" y="3858768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NVIDIA 在造 “robot brain”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在造 “factory nervous system + executive control system”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412480" y="1097280"/>
            <a:ext cx="2560320" cy="384048"/>
          </a:xfrm>
          <a:prstGeom prst="rect">
            <a:avLst/>
          </a:prstGeom>
          <a:solidFill>
            <a:srgbClr val="76B900">
              <a:alpha val="97000"/>
            </a:srgbClr>
          </a:solidFill>
          <a:ln w="12700">
            <a:solidFill>
              <a:srgbClr val="FFFFFF">
                <a:alpha val="2200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11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 / WAM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58200" y="1828800"/>
            <a:ext cx="2560320" cy="384048"/>
          </a:xfrm>
          <a:prstGeom prst="rect">
            <a:avLst/>
          </a:prstGeom>
          <a:solidFill>
            <a:srgbClr val="B4EB2B">
              <a:alpha val="97000"/>
            </a:srgbClr>
          </a:solidFill>
          <a:ln w="12700">
            <a:solidFill>
              <a:srgbClr val="FFFFFF">
                <a:alpha val="2200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11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VLA / Policy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03920" y="2560320"/>
            <a:ext cx="2560320" cy="384048"/>
          </a:xfrm>
          <a:prstGeom prst="rect">
            <a:avLst/>
          </a:prstGeom>
          <a:solidFill>
            <a:srgbClr val="5AB0FF">
              <a:alpha val="97000"/>
            </a:srgbClr>
          </a:solidFill>
          <a:ln w="12700">
            <a:solidFill>
              <a:srgbClr val="FFFFFF">
                <a:alpha val="2200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11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Sim + Data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49640" y="3291840"/>
            <a:ext cx="2560320" cy="384048"/>
          </a:xfrm>
          <a:prstGeom prst="rect">
            <a:avLst/>
          </a:prstGeom>
          <a:solidFill>
            <a:srgbClr val="F59E0B">
              <a:alpha val="97000"/>
            </a:srgbClr>
          </a:solidFill>
          <a:ln w="12700">
            <a:solidFill>
              <a:srgbClr val="FFFFFF">
                <a:alpha val="2200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Planner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95360" y="4023360"/>
            <a:ext cx="2560320" cy="384048"/>
          </a:xfrm>
          <a:prstGeom prst="rect">
            <a:avLst/>
          </a:prstGeom>
          <a:solidFill>
            <a:srgbClr val="0070C9">
              <a:alpha val="97000"/>
            </a:srgbClr>
          </a:solidFill>
          <a:ln w="12700">
            <a:solidFill>
              <a:srgbClr val="FFFFFF">
                <a:alpha val="2200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控制 / SI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9808" y="63550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0B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公开资料 + 架构推断｜2026-08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5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先把两家公司放到同一个坐标系里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不要比较宣传词；比较“谁在解决哪一层问题”。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94360" y="1444752"/>
            <a:ext cx="530352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91072" y="1444752"/>
            <a:ext cx="530352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783080"/>
            <a:ext cx="1097280" cy="246888"/>
          </a:xfrm>
          <a:prstGeom prst="rect">
            <a:avLst/>
          </a:prstGeom>
          <a:solidFill>
            <a:srgbClr val="F2FCE5"/>
          </a:solidFill>
          <a:ln w="12700">
            <a:solidFill>
              <a:srgbClr val="76B900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76B9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NVIDIA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6656832" y="1783080"/>
            <a:ext cx="914400" cy="246888"/>
          </a:xfrm>
          <a:prstGeom prst="rect">
            <a:avLst/>
          </a:prstGeom>
          <a:solidFill>
            <a:srgbClr val="EAF5FF"/>
          </a:solidFill>
          <a:ln w="12700">
            <a:solidFill>
              <a:srgbClr val="0070C9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070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960120" y="2240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通用机器人智能底座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656832" y="2240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工厂级 AI 控制系统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87552" y="2816352"/>
            <a:ext cx="4434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Cosmos / GR00T / Isaac / Jetson 构成“数据—模型—仿真—端侧”的闭环。优势在底层能力和规模化。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84264" y="281635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Real-World Agent / world-model verification / TAMP / 网络与 SI，把不可靠 AI 放进强约束现场。优势在工业编排。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384048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Physical FM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2249424" y="3867912"/>
            <a:ext cx="2514600" cy="100584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3408" y="384048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Physical FM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7936992" y="3867912"/>
            <a:ext cx="754380" cy="100584"/>
          </a:xfrm>
          <a:prstGeom prst="rect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187952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VLA/Policy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2249424" y="4215384"/>
            <a:ext cx="2263140" cy="100584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93408" y="4187952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VLA/Policy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7936992" y="4215384"/>
            <a:ext cx="1005840" cy="100584"/>
          </a:xfrm>
          <a:prstGeom prst="rect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535424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Sim/Data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2249424" y="4562856"/>
            <a:ext cx="2514600" cy="100584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93408" y="4535424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Sim/Data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7936992" y="4562856"/>
            <a:ext cx="1005840" cy="100584"/>
          </a:xfrm>
          <a:prstGeom prst="rect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882896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Planner/SI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2249424" y="4910328"/>
            <a:ext cx="1760220" cy="100584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93408" y="4882896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Planner/SI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7936992" y="4910328"/>
            <a:ext cx="2263140" cy="100584"/>
          </a:xfrm>
          <a:prstGeom prst="rect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601675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一句话：NVIDIA 强在“让机器人本身更聪明”；NEC 强在“让整座现场可控地聪明”。</a:t>
            </a:r>
            <a:endParaRPr lang="en-US" sz="1480" dirty="0"/>
          </a:p>
        </p:txBody>
      </p:sp>
      <p:sp>
        <p:nvSpPr>
          <p:cNvPr id="30" name="Text 28"/>
          <p:cNvSpPr/>
          <p:nvPr/>
        </p:nvSpPr>
        <p:spPr>
          <a:xfrm>
            <a:off x="594360" y="6547104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9AA4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× NVIDIA Physical AI 对比｜公开资料 + 架构推断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5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全栈架构：两条路线不是同一方向的竞争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NVIDIA 从底座往上打；NEC 从工厂现场约束往下收敛。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77240" y="10515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NVIDIA：模型底座主导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29400" y="10515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NEC：现场编排主导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4160520" cy="292608"/>
          </a:xfrm>
          <a:prstGeom prst="rect">
            <a:avLst/>
          </a:prstGeom>
          <a:solidFill>
            <a:srgbClr val="76B900">
              <a:alpha val="95000"/>
            </a:srgbClr>
          </a:solidFill>
          <a:ln w="12700">
            <a:solidFill>
              <a:srgbClr val="FFFFFF">
                <a:alpha val="20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811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Cosmos 3 / WAM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834640" y="1728216"/>
            <a:ext cx="0" cy="164592"/>
          </a:xfrm>
          <a:prstGeom prst="line">
            <a:avLst/>
          </a:prstGeom>
          <a:noFill/>
          <a:ln w="13970">
            <a:solidFill>
              <a:srgbClr val="A2ADBB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960120" y="1920240"/>
            <a:ext cx="4069080" cy="292608"/>
          </a:xfrm>
          <a:prstGeom prst="rect">
            <a:avLst/>
          </a:prstGeom>
          <a:solidFill>
            <a:srgbClr val="76B900">
              <a:alpha val="95000"/>
            </a:srgbClr>
          </a:solidFill>
          <a:ln w="12700">
            <a:solidFill>
              <a:srgbClr val="FFFFFF">
                <a:alpha val="20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811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GR00T / VLA Policy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834640" y="2231136"/>
            <a:ext cx="0" cy="164592"/>
          </a:xfrm>
          <a:prstGeom prst="line">
            <a:avLst/>
          </a:prstGeom>
          <a:noFill/>
          <a:ln w="13970">
            <a:solidFill>
              <a:srgbClr val="A2ADBB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143000" y="2423160"/>
            <a:ext cx="3977640" cy="292608"/>
          </a:xfrm>
          <a:prstGeom prst="rect">
            <a:avLst/>
          </a:prstGeom>
          <a:solidFill>
            <a:srgbClr val="5AB0FF">
              <a:alpha val="95000"/>
            </a:srgbClr>
          </a:solidFill>
          <a:ln w="12700">
            <a:solidFill>
              <a:srgbClr val="FFFFFF">
                <a:alpha val="20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811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Isaac Lab + Sim + Data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834640" y="2734056"/>
            <a:ext cx="0" cy="164592"/>
          </a:xfrm>
          <a:prstGeom prst="line">
            <a:avLst/>
          </a:prstGeom>
          <a:noFill/>
          <a:ln w="13970">
            <a:solidFill>
              <a:srgbClr val="A2ADBB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325880" y="2926080"/>
            <a:ext cx="3886200" cy="292608"/>
          </a:xfrm>
          <a:prstGeom prst="rect">
            <a:avLst/>
          </a:prstGeom>
          <a:solidFill>
            <a:srgbClr val="334155">
              <a:alpha val="95000"/>
            </a:srgbClr>
          </a:solidFill>
          <a:ln w="12700">
            <a:solidFill>
              <a:srgbClr val="FFFFFF">
                <a:alpha val="20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Jetson Thor / Isaac ROS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834640" y="3236976"/>
            <a:ext cx="0" cy="164592"/>
          </a:xfrm>
          <a:prstGeom prst="line">
            <a:avLst/>
          </a:prstGeom>
          <a:noFill/>
          <a:ln w="13970">
            <a:solidFill>
              <a:srgbClr val="A2ADBB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508760" y="3429000"/>
            <a:ext cx="3794760" cy="292608"/>
          </a:xfrm>
          <a:prstGeom prst="rect">
            <a:avLst/>
          </a:prstGeom>
          <a:solidFill>
            <a:srgbClr val="111827">
              <a:alpha val="95000"/>
            </a:srgbClr>
          </a:solidFill>
          <a:ln w="12700">
            <a:solidFill>
              <a:srgbClr val="FFFFFF">
                <a:alpha val="20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Robot execution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629400" y="1417320"/>
            <a:ext cx="4160520" cy="292608"/>
          </a:xfrm>
          <a:prstGeom prst="rect">
            <a:avLst/>
          </a:prstGeom>
          <a:solidFill>
            <a:srgbClr val="0070C9">
              <a:alpha val="95000"/>
            </a:srgbClr>
          </a:solidFill>
          <a:ln w="12700">
            <a:solidFill>
              <a:srgbClr val="FFFFFF">
                <a:alpha val="20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811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/ VLM semantics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686800" y="1728216"/>
            <a:ext cx="0" cy="164592"/>
          </a:xfrm>
          <a:prstGeom prst="line">
            <a:avLst/>
          </a:prstGeom>
          <a:noFill/>
          <a:ln w="13970">
            <a:solidFill>
              <a:srgbClr val="A2ADBB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812280" y="1920240"/>
            <a:ext cx="4069080" cy="292608"/>
          </a:xfrm>
          <a:prstGeom prst="rect">
            <a:avLst/>
          </a:prstGeom>
          <a:solidFill>
            <a:srgbClr val="F59E0B">
              <a:alpha val="95000"/>
            </a:srgbClr>
          </a:solidFill>
          <a:ln w="12700">
            <a:solidFill>
              <a:srgbClr val="FFFFFF">
                <a:alpha val="20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811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PDDL / TAMP / Optimizer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686800" y="2231136"/>
            <a:ext cx="0" cy="164592"/>
          </a:xfrm>
          <a:prstGeom prst="line">
            <a:avLst/>
          </a:prstGeom>
          <a:noFill/>
          <a:ln w="13970">
            <a:solidFill>
              <a:srgbClr val="A2ADBB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6995160" y="2423160"/>
            <a:ext cx="3977640" cy="292608"/>
          </a:xfrm>
          <a:prstGeom prst="rect">
            <a:avLst/>
          </a:prstGeom>
          <a:solidFill>
            <a:srgbClr val="8B5CF6">
              <a:alpha val="95000"/>
            </a:srgbClr>
          </a:solidFill>
          <a:ln w="12700">
            <a:solidFill>
              <a:srgbClr val="FFFFFF">
                <a:alpha val="20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811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World-model verification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686800" y="2734056"/>
            <a:ext cx="0" cy="164592"/>
          </a:xfrm>
          <a:prstGeom prst="line">
            <a:avLst/>
          </a:prstGeom>
          <a:noFill/>
          <a:ln w="13970">
            <a:solidFill>
              <a:srgbClr val="A2ADBB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178040" y="2926080"/>
            <a:ext cx="3886200" cy="292608"/>
          </a:xfrm>
          <a:prstGeom prst="rect">
            <a:avLst/>
          </a:prstGeom>
          <a:solidFill>
            <a:srgbClr val="334155">
              <a:alpha val="95000"/>
            </a:srgbClr>
          </a:solidFill>
          <a:ln w="12700">
            <a:solidFill>
              <a:srgbClr val="FFFFFF">
                <a:alpha val="20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 library / Controller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686800" y="3236976"/>
            <a:ext cx="0" cy="164592"/>
          </a:xfrm>
          <a:prstGeom prst="line">
            <a:avLst/>
          </a:prstGeom>
          <a:noFill/>
          <a:ln w="13970">
            <a:solidFill>
              <a:srgbClr val="A2ADBB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7360920" y="3429000"/>
            <a:ext cx="3794760" cy="292608"/>
          </a:xfrm>
          <a:prstGeom prst="rect">
            <a:avLst/>
          </a:prstGeom>
          <a:solidFill>
            <a:srgbClr val="111827">
              <a:alpha val="95000"/>
            </a:srgbClr>
          </a:solidFill>
          <a:ln w="12700">
            <a:solidFill>
              <a:srgbClr val="FFFFFF">
                <a:alpha val="20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Factory execution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080760" y="1353312"/>
            <a:ext cx="0" cy="3063240"/>
          </a:xfrm>
          <a:prstGeom prst="line">
            <a:avLst/>
          </a:prstGeom>
          <a:noFill/>
          <a:ln w="15240">
            <a:solidFill>
              <a:srgbClr val="CFD8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4434840"/>
            <a:ext cx="100584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核心差异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NVIDIA 尽量把感知、世界预测、动作生成统一进 foundation model；NEC 则保留显式 planner/solver/validator，把 neural model 当作可替换工具。</a:t>
            </a:r>
            <a:endParaRPr lang="en-US" sz="1240" dirty="0"/>
          </a:p>
        </p:txBody>
      </p:sp>
      <p:sp>
        <p:nvSpPr>
          <p:cNvPr id="27" name="Shape 25"/>
          <p:cNvSpPr/>
          <p:nvPr/>
        </p:nvSpPr>
        <p:spPr>
          <a:xfrm>
            <a:off x="1051560" y="4434840"/>
            <a:ext cx="64008" cy="10241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78992" y="571500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这也是为什么 NEC 看起来“模型不够大”，但在工厂编排上反而更像真实部署系统。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94360" y="6547104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9AA4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× NVIDIA Physical AI 对比｜公开资料 + 架构推断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5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领域一：Physical Foundation Model / WAM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NVIDIA 已经在做“统一世界 + 行动模型”；NEC 目前没有同级公开底座。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98448"/>
            <a:ext cx="438912" cy="292608"/>
          </a:xfrm>
          <a:prstGeom prst="rect">
            <a:avLst/>
          </a:prstGeom>
          <a:solidFill>
            <a:srgbClr val="FFFFFF">
              <a:alpha val="92000"/>
            </a:srgbClr>
          </a:solidFill>
          <a:ln w="15240">
            <a:solidFill>
              <a:srgbClr val="76B900">
                <a:alpha val="9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6B9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5568" y="13258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专业领域对比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847088"/>
            <a:ext cx="1371600" cy="246888"/>
          </a:xfrm>
          <a:prstGeom prst="rect">
            <a:avLst/>
          </a:prstGeom>
          <a:solidFill>
            <a:srgbClr val="F2FCE5"/>
          </a:solidFill>
          <a:ln w="12700">
            <a:solidFill>
              <a:srgbClr val="76B900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76B9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NVIDIA 项目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713232" y="2139696"/>
            <a:ext cx="3154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Cosmos 3 / World Action Model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13232" y="2944368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进展：Cosmos 3 被定位为 Physical AI 的 world foundation model，可作为 WAM backbone；支持世界生成、物理推理、动作生成，且有面向端侧/不同规模的模型路线。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8952" y="459943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NVIDIA 成熟度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758952" y="4800600"/>
            <a:ext cx="96012" cy="9601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3544" y="4800600"/>
            <a:ext cx="96012" cy="9601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8136" y="4800600"/>
            <a:ext cx="96012" cy="9601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2728" y="4800600"/>
            <a:ext cx="96012" cy="9601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17320" y="4800600"/>
            <a:ext cx="96012" cy="9601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459943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对应成熟度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1828800" y="4800600"/>
            <a:ext cx="96012" cy="96012"/>
          </a:xfrm>
          <a:prstGeom prst="ellipse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93392" y="4800600"/>
            <a:ext cx="96012" cy="96012"/>
          </a:xfrm>
          <a:prstGeom prst="ellipse">
            <a:avLst/>
          </a:prstGeom>
          <a:solidFill>
            <a:srgbClr val="D5DCE5"/>
          </a:solidFill>
          <a:ln w="12700">
            <a:solidFill>
              <a:srgbClr val="D5DCE5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57984" y="4800600"/>
            <a:ext cx="96012" cy="96012"/>
          </a:xfrm>
          <a:prstGeom prst="ellipse">
            <a:avLst/>
          </a:prstGeom>
          <a:solidFill>
            <a:srgbClr val="D5DCE5"/>
          </a:solidFill>
          <a:ln w="12700">
            <a:solidFill>
              <a:srgbClr val="D5DCE5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22576" y="4800600"/>
            <a:ext cx="96012" cy="96012"/>
          </a:xfrm>
          <a:prstGeom prst="ellipse">
            <a:avLst/>
          </a:prstGeom>
          <a:solidFill>
            <a:srgbClr val="D5DCE5"/>
          </a:solidFill>
          <a:ln w="12700">
            <a:solidFill>
              <a:srgbClr val="D5DCE5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87168" y="4800600"/>
            <a:ext cx="96012" cy="96012"/>
          </a:xfrm>
          <a:prstGeom prst="ellipse">
            <a:avLst/>
          </a:prstGeom>
          <a:solidFill>
            <a:srgbClr val="D5DCE5"/>
          </a:solidFill>
          <a:ln w="12700">
            <a:solidFill>
              <a:srgbClr val="D5DCE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42232" y="1920240"/>
            <a:ext cx="0" cy="361188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32504" y="3602736"/>
            <a:ext cx="219456" cy="219456"/>
          </a:xfrm>
          <a:prstGeom prst="ellipse">
            <a:avLst/>
          </a:prstGeom>
          <a:solidFill>
            <a:srgbClr val="76B9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24528" y="3712464"/>
            <a:ext cx="347472" cy="0"/>
          </a:xfrm>
          <a:prstGeom prst="line">
            <a:avLst/>
          </a:prstGeom>
          <a:noFill/>
          <a:ln w="1524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4663440" y="1700784"/>
            <a:ext cx="3246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D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 NEC 的优势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通用 prior 与跨场景迁移强；可把 video/world/action 融到同一模型里，减少大量任务专用模型。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4663440" y="1700784"/>
            <a:ext cx="64008" cy="192024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858768"/>
            <a:ext cx="3246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DFB8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 NEC 的劣势 / 盲区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模型输出不天然可验证；进工厂还需要外部约束、安全和 SI；对于 brownfield 现场，不等于直接可部署。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4663440" y="3858768"/>
            <a:ext cx="64008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1700784"/>
            <a:ext cx="3246120" cy="3849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6F9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当前位置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当前更像“多个任务专用 predictor + planner”。Noetra/招聘信息说明它意识到 foundation model 层缺口，但公开进展明显晚于 NVIDIA。</a:t>
            </a:r>
            <a:endParaRPr lang="en-US" sz="1070" dirty="0"/>
          </a:p>
        </p:txBody>
      </p:sp>
      <p:sp>
        <p:nvSpPr>
          <p:cNvPr id="30" name="Shape 28"/>
          <p:cNvSpPr/>
          <p:nvPr/>
        </p:nvSpPr>
        <p:spPr>
          <a:xfrm>
            <a:off x="8229600" y="1700784"/>
            <a:ext cx="64008" cy="3849624"/>
          </a:xfrm>
          <a:prstGeom prst="rect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5650992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8A95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Sources: NVIDIA Cosmos official / Cosmos 3 arXiv; NEC Noetra &amp; MTP 2030</a:t>
            </a:r>
            <a:endParaRPr lang="en-US" sz="620" dirty="0"/>
          </a:p>
        </p:txBody>
      </p:sp>
      <p:sp>
        <p:nvSpPr>
          <p:cNvPr id="32" name="Text 30"/>
          <p:cNvSpPr/>
          <p:nvPr/>
        </p:nvSpPr>
        <p:spPr>
          <a:xfrm>
            <a:off x="594360" y="6547104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9AA4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× NVIDIA Physical AI 对比｜公开资料 + 架构推断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5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领域二：VLA / 通用机器人策略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GR00T 是 NVIDIA 的 Generalist Robot Policy 主线；NEC 还没有公开同级 VLA。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98448"/>
            <a:ext cx="438912" cy="292608"/>
          </a:xfrm>
          <a:prstGeom prst="rect">
            <a:avLst/>
          </a:prstGeom>
          <a:solidFill>
            <a:srgbClr val="FFFFFF">
              <a:alpha val="92000"/>
            </a:srgbClr>
          </a:solidFill>
          <a:ln w="15240">
            <a:solidFill>
              <a:srgbClr val="76B900">
                <a:alpha val="9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6B9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5568" y="13258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专业领域对比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847088"/>
            <a:ext cx="1371600" cy="246888"/>
          </a:xfrm>
          <a:prstGeom prst="rect">
            <a:avLst/>
          </a:prstGeom>
          <a:solidFill>
            <a:srgbClr val="F2FCE5"/>
          </a:solidFill>
          <a:ln w="12700">
            <a:solidFill>
              <a:srgbClr val="76B900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76B9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NVIDIA 项目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713232" y="2139696"/>
            <a:ext cx="3154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Isaac GR00T N1.7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13232" y="2944368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进展：公开的 generalist robot foundation model；新 VLM backbone，action head 生成连续 action chunk；使用真实演示、人类第一视角和模拟数据混合训练。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8952" y="459943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NVIDIA 成熟度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758952" y="4800600"/>
            <a:ext cx="96012" cy="9601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3544" y="4800600"/>
            <a:ext cx="96012" cy="9601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8136" y="4800600"/>
            <a:ext cx="96012" cy="9601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2728" y="4800600"/>
            <a:ext cx="96012" cy="9601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17320" y="4800600"/>
            <a:ext cx="96012" cy="9601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459943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对应成熟度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1828800" y="4800600"/>
            <a:ext cx="96012" cy="96012"/>
          </a:xfrm>
          <a:prstGeom prst="ellipse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93392" y="4800600"/>
            <a:ext cx="96012" cy="96012"/>
          </a:xfrm>
          <a:prstGeom prst="ellipse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57984" y="4800600"/>
            <a:ext cx="96012" cy="96012"/>
          </a:xfrm>
          <a:prstGeom prst="ellipse">
            <a:avLst/>
          </a:prstGeom>
          <a:solidFill>
            <a:srgbClr val="D5DCE5"/>
          </a:solidFill>
          <a:ln w="12700">
            <a:solidFill>
              <a:srgbClr val="D5DCE5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22576" y="4800600"/>
            <a:ext cx="96012" cy="96012"/>
          </a:xfrm>
          <a:prstGeom prst="ellipse">
            <a:avLst/>
          </a:prstGeom>
          <a:solidFill>
            <a:srgbClr val="D5DCE5"/>
          </a:solidFill>
          <a:ln w="12700">
            <a:solidFill>
              <a:srgbClr val="D5DCE5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87168" y="4800600"/>
            <a:ext cx="96012" cy="96012"/>
          </a:xfrm>
          <a:prstGeom prst="ellipse">
            <a:avLst/>
          </a:prstGeom>
          <a:solidFill>
            <a:srgbClr val="D5DCE5"/>
          </a:solidFill>
          <a:ln w="12700">
            <a:solidFill>
              <a:srgbClr val="D5DCE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42232" y="1920240"/>
            <a:ext cx="0" cy="361188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32504" y="3602736"/>
            <a:ext cx="219456" cy="219456"/>
          </a:xfrm>
          <a:prstGeom prst="ellipse">
            <a:avLst/>
          </a:prstGeom>
          <a:solidFill>
            <a:srgbClr val="76B9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24528" y="3712464"/>
            <a:ext cx="347472" cy="0"/>
          </a:xfrm>
          <a:prstGeom prst="line">
            <a:avLst/>
          </a:prstGeom>
          <a:noFill/>
          <a:ln w="1524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4663440" y="1700784"/>
            <a:ext cx="3246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D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 NEC 的优势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 embodiment、少量 post-training、任务泛化能力是核心优势；更接近“让一台机器人自己学新任务”。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4663440" y="1700784"/>
            <a:ext cx="64008" cy="192024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858768"/>
            <a:ext cx="3246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DFB8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 NEC 的劣势 / 盲区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对细粒度工厂约束、长周期调度、可解释失败原因并不天然解决；部署仍依赖集成商和安全层。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4663440" y="3858768"/>
            <a:ext cx="64008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1700784"/>
            <a:ext cx="3246120" cy="3849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6F9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当前位置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当前执行层更可能是 skill library + learned trajectory proposal + optimizer。它不是通用 VLA，但更容易接入显式约束。</a:t>
            </a:r>
            <a:endParaRPr lang="en-US" sz="1070" dirty="0"/>
          </a:p>
        </p:txBody>
      </p:sp>
      <p:sp>
        <p:nvSpPr>
          <p:cNvPr id="30" name="Shape 28"/>
          <p:cNvSpPr/>
          <p:nvPr/>
        </p:nvSpPr>
        <p:spPr>
          <a:xfrm>
            <a:off x="8229600" y="1700784"/>
            <a:ext cx="64008" cy="3849624"/>
          </a:xfrm>
          <a:prstGeom prst="rect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5650992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8A95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Sources: Isaac GR00T GitHub / NVIDIA developer blog</a:t>
            </a:r>
            <a:endParaRPr lang="en-US" sz="620" dirty="0"/>
          </a:p>
        </p:txBody>
      </p:sp>
      <p:sp>
        <p:nvSpPr>
          <p:cNvPr id="32" name="Text 30"/>
          <p:cNvSpPr/>
          <p:nvPr/>
        </p:nvSpPr>
        <p:spPr>
          <a:xfrm>
            <a:off x="594360" y="6547104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9AA4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× NVIDIA Physical AI 对比｜公开资料 + 架构推断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5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领域三：仿真、合成数据与数据飞轮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这里是 NVIDIA 对 NEC 最大的系统性优势之一。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98448"/>
            <a:ext cx="438912" cy="292608"/>
          </a:xfrm>
          <a:prstGeom prst="rect">
            <a:avLst/>
          </a:prstGeom>
          <a:solidFill>
            <a:srgbClr val="FFFFFF">
              <a:alpha val="92000"/>
            </a:srgbClr>
          </a:solidFill>
          <a:ln w="15240">
            <a:solidFill>
              <a:srgbClr val="76B900">
                <a:alpha val="9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6B9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5568" y="13258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专业领域对比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847088"/>
            <a:ext cx="1371600" cy="246888"/>
          </a:xfrm>
          <a:prstGeom prst="rect">
            <a:avLst/>
          </a:prstGeom>
          <a:solidFill>
            <a:srgbClr val="F2FCE5"/>
          </a:solidFill>
          <a:ln w="12700">
            <a:solidFill>
              <a:srgbClr val="76B900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76B9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NVIDIA 项目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713232" y="2139696"/>
            <a:ext cx="3154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Isaac Sim / Isaac Lab / Newton / GR00T-Dreams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13232" y="2944368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进展：机器人学习、仿真评估、合成轨迹、domain randomization 和政策训练已经连成平台。GR00T-Dreams 用 Cosmos 生成合成轨迹数据。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8952" y="459943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NVIDIA 成熟度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758952" y="4800600"/>
            <a:ext cx="96012" cy="9601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3544" y="4800600"/>
            <a:ext cx="96012" cy="9601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8136" y="4800600"/>
            <a:ext cx="96012" cy="9601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2728" y="4800600"/>
            <a:ext cx="96012" cy="9601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17320" y="4800600"/>
            <a:ext cx="96012" cy="9601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459943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对应成熟度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1828800" y="4800600"/>
            <a:ext cx="96012" cy="96012"/>
          </a:xfrm>
          <a:prstGeom prst="ellipse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93392" y="4800600"/>
            <a:ext cx="96012" cy="96012"/>
          </a:xfrm>
          <a:prstGeom prst="ellipse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57984" y="4800600"/>
            <a:ext cx="96012" cy="96012"/>
          </a:xfrm>
          <a:prstGeom prst="ellipse">
            <a:avLst/>
          </a:prstGeom>
          <a:solidFill>
            <a:srgbClr val="D5DCE5"/>
          </a:solidFill>
          <a:ln w="12700">
            <a:solidFill>
              <a:srgbClr val="D5DCE5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22576" y="4800600"/>
            <a:ext cx="96012" cy="96012"/>
          </a:xfrm>
          <a:prstGeom prst="ellipse">
            <a:avLst/>
          </a:prstGeom>
          <a:solidFill>
            <a:srgbClr val="D5DCE5"/>
          </a:solidFill>
          <a:ln w="12700">
            <a:solidFill>
              <a:srgbClr val="D5DCE5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87168" y="4800600"/>
            <a:ext cx="96012" cy="96012"/>
          </a:xfrm>
          <a:prstGeom prst="ellipse">
            <a:avLst/>
          </a:prstGeom>
          <a:solidFill>
            <a:srgbClr val="D5DCE5"/>
          </a:solidFill>
          <a:ln w="12700">
            <a:solidFill>
              <a:srgbClr val="D5DCE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42232" y="1920240"/>
            <a:ext cx="0" cy="361188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32504" y="3602736"/>
            <a:ext cx="219456" cy="219456"/>
          </a:xfrm>
          <a:prstGeom prst="ellipse">
            <a:avLst/>
          </a:prstGeom>
          <a:solidFill>
            <a:srgbClr val="76B9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24528" y="3712464"/>
            <a:ext cx="347472" cy="0"/>
          </a:xfrm>
          <a:prstGeom prst="line">
            <a:avLst/>
          </a:prstGeom>
          <a:noFill/>
          <a:ln w="1524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4663440" y="1700784"/>
            <a:ext cx="3246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D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 NEC 的优势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 flywheel 能把少量真实演示放大成大量训练样本；这是训练通用 policy 的关键基础设施。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4663440" y="1700784"/>
            <a:ext cx="64008" cy="192024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858768"/>
            <a:ext cx="3246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DFB8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 NEC 的劣势 / 盲区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栈很重，依赖 NVIDIA 生态；真实工厂约束仍需要客户/集成商建模。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4663440" y="3858768"/>
            <a:ext cx="64008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1700784"/>
            <a:ext cx="3246120" cy="3849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6F9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当前位置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有自研 simulator 和现场数据增强，但规模、工具链完整度和生态远小于 NVIDIA。真正差距不只是算法，而是数据机器。</a:t>
            </a:r>
            <a:endParaRPr lang="en-US" sz="1070" dirty="0"/>
          </a:p>
        </p:txBody>
      </p:sp>
      <p:sp>
        <p:nvSpPr>
          <p:cNvPr id="30" name="Shape 28"/>
          <p:cNvSpPr/>
          <p:nvPr/>
        </p:nvSpPr>
        <p:spPr>
          <a:xfrm>
            <a:off x="8229600" y="1700784"/>
            <a:ext cx="64008" cy="3849624"/>
          </a:xfrm>
          <a:prstGeom prst="rect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5650992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8A95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Sources: Isaac Lab official; GR00T-Dreams GitHub; NEC robot motion learning</a:t>
            </a:r>
            <a:endParaRPr lang="en-US" sz="620" dirty="0"/>
          </a:p>
        </p:txBody>
      </p:sp>
      <p:sp>
        <p:nvSpPr>
          <p:cNvPr id="32" name="Text 30"/>
          <p:cNvSpPr/>
          <p:nvPr/>
        </p:nvSpPr>
        <p:spPr>
          <a:xfrm>
            <a:off x="594360" y="6547104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9AA4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× NVIDIA Physical AI 对比｜公开资料 + 架构推断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5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领域四：长周期任务规划与多机器人编排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 NEC 最接近甚至可能超过 NVIDIA 的层。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98448"/>
            <a:ext cx="438912" cy="292608"/>
          </a:xfrm>
          <a:prstGeom prst="rect">
            <a:avLst/>
          </a:prstGeom>
          <a:solidFill>
            <a:srgbClr val="FFFFFF">
              <a:alpha val="92000"/>
            </a:srgbClr>
          </a:solidFill>
          <a:ln w="15240">
            <a:solidFill>
              <a:srgbClr val="0070C9">
                <a:alpha val="9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0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5568" y="13258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专业领域对比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847088"/>
            <a:ext cx="1371600" cy="246888"/>
          </a:xfrm>
          <a:prstGeom prst="rect">
            <a:avLst/>
          </a:prstGeom>
          <a:solidFill>
            <a:srgbClr val="F2FCE5"/>
          </a:solidFill>
          <a:ln w="12700">
            <a:solidFill>
              <a:srgbClr val="76B900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76B9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NVIDIA 项目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713232" y="2139696"/>
            <a:ext cx="3154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NeMo/Isaac Agent 工具链 + GR00T 工作流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13232" y="2944368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进展：NVIDIA 正在把机器人模型、agent tools、simulation workflows 接起来，但核心宣传重心仍是 foundation model + robot policy。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8952" y="459943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NVIDIA 成熟度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758952" y="4800600"/>
            <a:ext cx="96012" cy="9601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3544" y="4800600"/>
            <a:ext cx="96012" cy="9601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8136" y="4800600"/>
            <a:ext cx="96012" cy="9601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2728" y="4800600"/>
            <a:ext cx="96012" cy="96012"/>
          </a:xfrm>
          <a:prstGeom prst="ellipse">
            <a:avLst/>
          </a:prstGeom>
          <a:solidFill>
            <a:srgbClr val="D5DCE5"/>
          </a:solidFill>
          <a:ln w="12700">
            <a:solidFill>
              <a:srgbClr val="D5DCE5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17320" y="4800600"/>
            <a:ext cx="96012" cy="96012"/>
          </a:xfrm>
          <a:prstGeom prst="ellipse">
            <a:avLst/>
          </a:prstGeom>
          <a:solidFill>
            <a:srgbClr val="D5DCE5"/>
          </a:solidFill>
          <a:ln w="12700">
            <a:solidFill>
              <a:srgbClr val="D5DCE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459943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对应成熟度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1828800" y="4800600"/>
            <a:ext cx="96012" cy="96012"/>
          </a:xfrm>
          <a:prstGeom prst="ellipse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93392" y="4800600"/>
            <a:ext cx="96012" cy="96012"/>
          </a:xfrm>
          <a:prstGeom prst="ellipse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57984" y="4800600"/>
            <a:ext cx="96012" cy="96012"/>
          </a:xfrm>
          <a:prstGeom prst="ellipse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22576" y="4800600"/>
            <a:ext cx="96012" cy="96012"/>
          </a:xfrm>
          <a:prstGeom prst="ellipse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87168" y="4800600"/>
            <a:ext cx="96012" cy="96012"/>
          </a:xfrm>
          <a:prstGeom prst="ellipse">
            <a:avLst/>
          </a:prstGeom>
          <a:solidFill>
            <a:srgbClr val="D5DCE5"/>
          </a:solidFill>
          <a:ln w="12700">
            <a:solidFill>
              <a:srgbClr val="D5DCE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42232" y="1920240"/>
            <a:ext cx="0" cy="361188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32504" y="3602736"/>
            <a:ext cx="219456" cy="219456"/>
          </a:xfrm>
          <a:prstGeom prst="ellipse">
            <a:avLst/>
          </a:prstGeom>
          <a:solidFill>
            <a:srgbClr val="0070C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24528" y="3712464"/>
            <a:ext cx="347472" cy="0"/>
          </a:xfrm>
          <a:prstGeom prst="line">
            <a:avLst/>
          </a:prstGeom>
          <a:noFill/>
          <a:ln w="15240">
            <a:solidFill>
              <a:srgbClr val="0070C9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4663440" y="1700784"/>
            <a:ext cx="3246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D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 NEC 的优势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可用强模型提出 plan，并与 Isaac 生态联动；未来如果 WAM 更强，长周期规划能力会提高。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4663440" y="1700784"/>
            <a:ext cx="64008" cy="192024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858768"/>
            <a:ext cx="3246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DFB8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 NEC 的劣势 / 盲区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LLM/VLA 直接规划容易 hallucination；多机器人任务分配、PDDL precondition、工厂 precedence constraints 不是它的主战场。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4663440" y="3858768"/>
            <a:ext cx="64008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1700784"/>
            <a:ext cx="3246120" cy="3849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6F9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当前位置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公开论文已把 GPT-4o → 层级 agent → PDDL → Fast Downward → prompt optimization 串起来。它的优势是把 AI 输出转成可验证规划问题。</a:t>
            </a:r>
            <a:endParaRPr lang="en-US" sz="1070" dirty="0"/>
          </a:p>
        </p:txBody>
      </p:sp>
      <p:sp>
        <p:nvSpPr>
          <p:cNvPr id="30" name="Shape 28"/>
          <p:cNvSpPr/>
          <p:nvPr/>
        </p:nvSpPr>
        <p:spPr>
          <a:xfrm>
            <a:off x="8229600" y="1700784"/>
            <a:ext cx="64008" cy="3849624"/>
          </a:xfrm>
          <a:prstGeom prst="rect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5650992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8A95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Sources: NEC multi-robot arXiv 2602.21670; NEC Real-World Agent technical report</a:t>
            </a:r>
            <a:endParaRPr lang="en-US" sz="620" dirty="0"/>
          </a:p>
        </p:txBody>
      </p:sp>
      <p:sp>
        <p:nvSpPr>
          <p:cNvPr id="32" name="Text 30"/>
          <p:cNvSpPr/>
          <p:nvPr/>
        </p:nvSpPr>
        <p:spPr>
          <a:xfrm>
            <a:off x="594360" y="6547104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9AA4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× NVIDIA Physical AI 对比｜公开资料 + 架构推断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5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领域五：World Model 与可执行性验证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同名“world model”，但 NVIDIA 与 NEC 的实际含义完全不同。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98448"/>
            <a:ext cx="438912" cy="292608"/>
          </a:xfrm>
          <a:prstGeom prst="rect">
            <a:avLst/>
          </a:prstGeom>
          <a:solidFill>
            <a:srgbClr val="FFFFFF">
              <a:alpha val="92000"/>
            </a:srgbClr>
          </a:solidFill>
          <a:ln w="15240">
            <a:solidFill>
              <a:srgbClr val="76B900">
                <a:alpha val="9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6B9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5568" y="13258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专业领域对比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847088"/>
            <a:ext cx="1371600" cy="246888"/>
          </a:xfrm>
          <a:prstGeom prst="rect">
            <a:avLst/>
          </a:prstGeom>
          <a:solidFill>
            <a:srgbClr val="F2FCE5"/>
          </a:solidFill>
          <a:ln w="12700">
            <a:solidFill>
              <a:srgbClr val="76B900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76B9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NVIDIA 项目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713232" y="2139696"/>
            <a:ext cx="3154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Cosmos WFM / WAM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13232" y="2944368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进展：NVIDIA 把 world model 当作大规模物理先验，用于想象未来、训练 policy、生成动作。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8952" y="459943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NVIDIA 成熟度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758952" y="4800600"/>
            <a:ext cx="96012" cy="9601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3544" y="4800600"/>
            <a:ext cx="96012" cy="9601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8136" y="4800600"/>
            <a:ext cx="96012" cy="9601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2728" y="4800600"/>
            <a:ext cx="96012" cy="9601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17320" y="4800600"/>
            <a:ext cx="96012" cy="9601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459943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对应成熟度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1828800" y="4800600"/>
            <a:ext cx="96012" cy="96012"/>
          </a:xfrm>
          <a:prstGeom prst="ellipse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93392" y="4800600"/>
            <a:ext cx="96012" cy="96012"/>
          </a:xfrm>
          <a:prstGeom prst="ellipse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57984" y="4800600"/>
            <a:ext cx="96012" cy="96012"/>
          </a:xfrm>
          <a:prstGeom prst="ellipse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22576" y="4800600"/>
            <a:ext cx="96012" cy="96012"/>
          </a:xfrm>
          <a:prstGeom prst="ellipse">
            <a:avLst/>
          </a:prstGeom>
          <a:solidFill>
            <a:srgbClr val="D5DCE5"/>
          </a:solidFill>
          <a:ln w="12700">
            <a:solidFill>
              <a:srgbClr val="D5DCE5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87168" y="4800600"/>
            <a:ext cx="96012" cy="96012"/>
          </a:xfrm>
          <a:prstGeom prst="ellipse">
            <a:avLst/>
          </a:prstGeom>
          <a:solidFill>
            <a:srgbClr val="D5DCE5"/>
          </a:solidFill>
          <a:ln w="12700">
            <a:solidFill>
              <a:srgbClr val="D5DCE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42232" y="1920240"/>
            <a:ext cx="0" cy="361188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32504" y="3602736"/>
            <a:ext cx="219456" cy="219456"/>
          </a:xfrm>
          <a:prstGeom prst="ellipse">
            <a:avLst/>
          </a:prstGeom>
          <a:solidFill>
            <a:srgbClr val="76B9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24528" y="3712464"/>
            <a:ext cx="347472" cy="0"/>
          </a:xfrm>
          <a:prstGeom prst="line">
            <a:avLst/>
          </a:prstGeom>
          <a:noFill/>
          <a:ln w="1524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4663440" y="1700784"/>
            <a:ext cx="3246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D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 NEC 的优势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共享表征强；一个底座可以复用到多任务、多模态、多 embodiment。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4663440" y="1700784"/>
            <a:ext cx="64008" cy="192024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858768"/>
            <a:ext cx="3246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DFB8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 NEC 的劣势 / 盲区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大模型世界预测并不等于现场可执行；输出结果可能很像真的但违反工厂约束或安全规则。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4663440" y="3858768"/>
            <a:ext cx="64008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1700784"/>
            <a:ext cx="3246120" cy="3849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6F9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当前位置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的 world model 更像 task-specific evaluator：成功/失败预测、RSSM 未来特征预测、人类运动/压力预测。它不够通用，但适合放在 planner 后面做验证。</a:t>
            </a:r>
            <a:endParaRPr lang="en-US" sz="1070" dirty="0"/>
          </a:p>
        </p:txBody>
      </p:sp>
      <p:sp>
        <p:nvSpPr>
          <p:cNvPr id="30" name="Shape 28"/>
          <p:cNvSpPr/>
          <p:nvPr/>
        </p:nvSpPr>
        <p:spPr>
          <a:xfrm>
            <a:off x="8229600" y="1700784"/>
            <a:ext cx="64008" cy="3849624"/>
          </a:xfrm>
          <a:prstGeom prst="rect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5650992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8A95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Sources: Cosmos official/arXiv; NEC FIRP arXiv; NEC human-aware Physical AI</a:t>
            </a:r>
            <a:endParaRPr lang="en-US" sz="620" dirty="0"/>
          </a:p>
        </p:txBody>
      </p:sp>
      <p:sp>
        <p:nvSpPr>
          <p:cNvPr id="32" name="Text 30"/>
          <p:cNvSpPr/>
          <p:nvPr/>
        </p:nvSpPr>
        <p:spPr>
          <a:xfrm>
            <a:off x="594360" y="6547104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9AA4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× NVIDIA Physical AI 对比｜公开资料 + 架构推断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5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领域六：Manipulation 与轨迹生成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NVIDIA 追求 generalist policy；NEC 追求 model-based robustness。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98448"/>
            <a:ext cx="438912" cy="292608"/>
          </a:xfrm>
          <a:prstGeom prst="rect">
            <a:avLst/>
          </a:prstGeom>
          <a:solidFill>
            <a:srgbClr val="FFFFFF">
              <a:alpha val="92000"/>
            </a:srgbClr>
          </a:solidFill>
          <a:ln w="15240">
            <a:solidFill>
              <a:srgbClr val="76B900">
                <a:alpha val="9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6B9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5568" y="13258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专业领域对比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847088"/>
            <a:ext cx="1371600" cy="246888"/>
          </a:xfrm>
          <a:prstGeom prst="rect">
            <a:avLst/>
          </a:prstGeom>
          <a:solidFill>
            <a:srgbClr val="F2FCE5"/>
          </a:solidFill>
          <a:ln w="12700">
            <a:solidFill>
              <a:srgbClr val="76B900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76B9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NVIDIA 项目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713232" y="2139696"/>
            <a:ext cx="3154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GR00T policy + diffusion action head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13232" y="2944368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进展：GR00T N1.7 将语言、图像、机器人状态映射到连续动作 chunk；用于 humanoid/mobile manipulation 的泛化。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8952" y="459943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NVIDIA 成熟度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758952" y="4800600"/>
            <a:ext cx="96012" cy="9601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3544" y="4800600"/>
            <a:ext cx="96012" cy="9601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8136" y="4800600"/>
            <a:ext cx="96012" cy="9601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2728" y="4800600"/>
            <a:ext cx="96012" cy="9601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17320" y="4800600"/>
            <a:ext cx="96012" cy="9601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459943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对应成熟度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1828800" y="4800600"/>
            <a:ext cx="96012" cy="96012"/>
          </a:xfrm>
          <a:prstGeom prst="ellipse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93392" y="4800600"/>
            <a:ext cx="96012" cy="96012"/>
          </a:xfrm>
          <a:prstGeom prst="ellipse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57984" y="4800600"/>
            <a:ext cx="96012" cy="96012"/>
          </a:xfrm>
          <a:prstGeom prst="ellipse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22576" y="4800600"/>
            <a:ext cx="96012" cy="96012"/>
          </a:xfrm>
          <a:prstGeom prst="ellipse">
            <a:avLst/>
          </a:prstGeom>
          <a:solidFill>
            <a:srgbClr val="D5DCE5"/>
          </a:solidFill>
          <a:ln w="12700">
            <a:solidFill>
              <a:srgbClr val="D5DCE5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87168" y="4800600"/>
            <a:ext cx="96012" cy="96012"/>
          </a:xfrm>
          <a:prstGeom prst="ellipse">
            <a:avLst/>
          </a:prstGeom>
          <a:solidFill>
            <a:srgbClr val="D5DCE5"/>
          </a:solidFill>
          <a:ln w="12700">
            <a:solidFill>
              <a:srgbClr val="D5DCE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42232" y="1920240"/>
            <a:ext cx="0" cy="361188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32504" y="3602736"/>
            <a:ext cx="219456" cy="219456"/>
          </a:xfrm>
          <a:prstGeom prst="ellipse">
            <a:avLst/>
          </a:prstGeom>
          <a:solidFill>
            <a:srgbClr val="76B9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24528" y="3712464"/>
            <a:ext cx="347472" cy="0"/>
          </a:xfrm>
          <a:prstGeom prst="line">
            <a:avLst/>
          </a:prstGeom>
          <a:noFill/>
          <a:ln w="1524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4663440" y="1700784"/>
            <a:ext cx="3246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D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 NEC 的优势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新任务、新物体、新场景的迁移潜力强；从“task-specific cell”迈向“general robot skill”。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4663440" y="1700784"/>
            <a:ext cx="64008" cy="192024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858768"/>
            <a:ext cx="3246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DFB8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 NEC 的劣势 / 盲区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端到端 policy 的错误模式不易解释；工厂要求的 reachability/collision/cycle-time 仍需外部验证。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4663440" y="3858768"/>
            <a:ext cx="64008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1700784"/>
            <a:ext cx="3246120" cy="3849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6F9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当前位置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在杂乱物体操作中使用视觉 latent、world-model 预测、diffusion trajectory、任务顺序优化。它更窄，但更像工程闭环。</a:t>
            </a:r>
            <a:endParaRPr lang="en-US" sz="1070" dirty="0"/>
          </a:p>
        </p:txBody>
      </p:sp>
      <p:sp>
        <p:nvSpPr>
          <p:cNvPr id="30" name="Shape 28"/>
          <p:cNvSpPr/>
          <p:nvPr/>
        </p:nvSpPr>
        <p:spPr>
          <a:xfrm>
            <a:off x="8229600" y="1700784"/>
            <a:ext cx="64008" cy="3849624"/>
          </a:xfrm>
          <a:prstGeom prst="rect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5650992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8A95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Sources: NVIDIA GR00T; NEC 2024 robot motion learning</a:t>
            </a:r>
            <a:endParaRPr lang="en-US" sz="620" dirty="0"/>
          </a:p>
        </p:txBody>
      </p:sp>
      <p:sp>
        <p:nvSpPr>
          <p:cNvPr id="32" name="Text 30"/>
          <p:cNvSpPr/>
          <p:nvPr/>
        </p:nvSpPr>
        <p:spPr>
          <a:xfrm>
            <a:off x="594360" y="6547104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9AA4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× NVIDIA Physical AI 对比｜公开资料 + 架构推断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5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领域七：AMR 导航与人机共存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在“机器人如何塞进现有现场”上很有特色。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98448"/>
            <a:ext cx="438912" cy="292608"/>
          </a:xfrm>
          <a:prstGeom prst="rect">
            <a:avLst/>
          </a:prstGeom>
          <a:solidFill>
            <a:srgbClr val="FFFFFF">
              <a:alpha val="92000"/>
            </a:srgbClr>
          </a:solidFill>
          <a:ln w="15240">
            <a:solidFill>
              <a:srgbClr val="76B900">
                <a:alpha val="9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6B9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5568" y="13258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专业领域对比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847088"/>
            <a:ext cx="1371600" cy="246888"/>
          </a:xfrm>
          <a:prstGeom prst="rect">
            <a:avLst/>
          </a:prstGeom>
          <a:solidFill>
            <a:srgbClr val="F2FCE5"/>
          </a:solidFill>
          <a:ln w="12700">
            <a:solidFill>
              <a:srgbClr val="76B900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76B9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NVIDIA 项目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713232" y="2139696"/>
            <a:ext cx="3154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Isaac / Jetson / Partner AMR stack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13232" y="2944368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进展：NVIDIA 提供仿真、端侧计算、感知和 robot runtime；AMR/移动操作多数通过生态伙伴落地。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8952" y="459943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NVIDIA 成熟度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758952" y="4800600"/>
            <a:ext cx="96012" cy="9601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3544" y="4800600"/>
            <a:ext cx="96012" cy="9601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8136" y="4800600"/>
            <a:ext cx="96012" cy="9601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2728" y="4800600"/>
            <a:ext cx="96012" cy="9601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17320" y="4800600"/>
            <a:ext cx="96012" cy="96012"/>
          </a:xfrm>
          <a:prstGeom prst="ellipse">
            <a:avLst/>
          </a:prstGeom>
          <a:solidFill>
            <a:srgbClr val="D5DCE5"/>
          </a:solidFill>
          <a:ln w="12700">
            <a:solidFill>
              <a:srgbClr val="D5DCE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459943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对应成熟度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1828800" y="4800600"/>
            <a:ext cx="96012" cy="96012"/>
          </a:xfrm>
          <a:prstGeom prst="ellipse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93392" y="4800600"/>
            <a:ext cx="96012" cy="96012"/>
          </a:xfrm>
          <a:prstGeom prst="ellipse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57984" y="4800600"/>
            <a:ext cx="96012" cy="96012"/>
          </a:xfrm>
          <a:prstGeom prst="ellipse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22576" y="4800600"/>
            <a:ext cx="96012" cy="96012"/>
          </a:xfrm>
          <a:prstGeom prst="ellipse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87168" y="4800600"/>
            <a:ext cx="96012" cy="96012"/>
          </a:xfrm>
          <a:prstGeom prst="ellipse">
            <a:avLst/>
          </a:prstGeom>
          <a:solidFill>
            <a:srgbClr val="D5DCE5"/>
          </a:solidFill>
          <a:ln w="12700">
            <a:solidFill>
              <a:srgbClr val="D5DCE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42232" y="1920240"/>
            <a:ext cx="0" cy="361188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32504" y="3602736"/>
            <a:ext cx="219456" cy="219456"/>
          </a:xfrm>
          <a:prstGeom prst="ellipse">
            <a:avLst/>
          </a:prstGeom>
          <a:solidFill>
            <a:srgbClr val="76B9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24528" y="3712464"/>
            <a:ext cx="347472" cy="0"/>
          </a:xfrm>
          <a:prstGeom prst="line">
            <a:avLst/>
          </a:prstGeom>
          <a:noFill/>
          <a:ln w="1524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4663440" y="1700784"/>
            <a:ext cx="3246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D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 NEC 的优势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底层算力、感知模型、仿真测试强；适合通用移动机器人平台升级。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4663440" y="1700784"/>
            <a:ext cx="64008" cy="192024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858768"/>
            <a:ext cx="3246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DFB8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 NEC 的劣势 / 盲区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“工人是否被机器人吓到”“狭窄现场怎么不打扰人”这种现场细节，不是 NVIDIA 最核心卖点。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4663440" y="3858768"/>
            <a:ext cx="64008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1700784"/>
            <a:ext cx="3246120" cy="3849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6F9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当前位置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有 AMR 路径候选生成/选择路线，以及预测人类移动和 stress score 的 Physical AI。它的亮点是人机心理安全与现场接受度。</a:t>
            </a:r>
            <a:endParaRPr lang="en-US" sz="1070" dirty="0"/>
          </a:p>
        </p:txBody>
      </p:sp>
      <p:sp>
        <p:nvSpPr>
          <p:cNvPr id="30" name="Shape 28"/>
          <p:cNvSpPr/>
          <p:nvPr/>
        </p:nvSpPr>
        <p:spPr>
          <a:xfrm>
            <a:off x="8229600" y="1700784"/>
            <a:ext cx="64008" cy="3849624"/>
          </a:xfrm>
          <a:prstGeom prst="rect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5650992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8A95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Sources: NEC AMR press; NEC human-aware Physical AI; Jetson/Isaac official</a:t>
            </a:r>
            <a:endParaRPr lang="en-US" sz="620" dirty="0"/>
          </a:p>
        </p:txBody>
      </p:sp>
      <p:sp>
        <p:nvSpPr>
          <p:cNvPr id="32" name="Text 30"/>
          <p:cNvSpPr/>
          <p:nvPr/>
        </p:nvSpPr>
        <p:spPr>
          <a:xfrm>
            <a:off x="594360" y="6547104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9AA4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× NVIDIA Physical AI 对比｜公开资料 + 架构推断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5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领域八：端侧计算、Cloud-to-Robot 与网络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NVIDIA 强在算力与机器人端侧；NEC 强在通信/ICT 控制。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98448"/>
            <a:ext cx="438912" cy="292608"/>
          </a:xfrm>
          <a:prstGeom prst="rect">
            <a:avLst/>
          </a:prstGeom>
          <a:solidFill>
            <a:srgbClr val="FFFFFF">
              <a:alpha val="92000"/>
            </a:srgbClr>
          </a:solidFill>
          <a:ln w="15240">
            <a:solidFill>
              <a:srgbClr val="76B900">
                <a:alpha val="9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6B9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5568" y="13258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专业领域对比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847088"/>
            <a:ext cx="1371600" cy="246888"/>
          </a:xfrm>
          <a:prstGeom prst="rect">
            <a:avLst/>
          </a:prstGeom>
          <a:solidFill>
            <a:srgbClr val="F2FCE5"/>
          </a:solidFill>
          <a:ln w="12700">
            <a:solidFill>
              <a:srgbClr val="76B900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76B9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NVIDIA 项目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713232" y="2139696"/>
            <a:ext cx="3154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Jetson Thor / Isaac ROS / CUDA-X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13232" y="2944368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进展：Jetson Thor 定位 physical AI 机器人计算平台；用于多模态推理、传感器处理和 VLA/LLM/VLM runtime。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8952" y="459943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NVIDIA 成熟度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758952" y="4800600"/>
            <a:ext cx="96012" cy="9601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3544" y="4800600"/>
            <a:ext cx="96012" cy="9601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8136" y="4800600"/>
            <a:ext cx="96012" cy="9601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2728" y="4800600"/>
            <a:ext cx="96012" cy="9601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17320" y="4800600"/>
            <a:ext cx="96012" cy="9601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459943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对应成熟度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1828800" y="4800600"/>
            <a:ext cx="96012" cy="96012"/>
          </a:xfrm>
          <a:prstGeom prst="ellipse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93392" y="4800600"/>
            <a:ext cx="96012" cy="96012"/>
          </a:xfrm>
          <a:prstGeom prst="ellipse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57984" y="4800600"/>
            <a:ext cx="96012" cy="96012"/>
          </a:xfrm>
          <a:prstGeom prst="ellipse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22576" y="4800600"/>
            <a:ext cx="96012" cy="96012"/>
          </a:xfrm>
          <a:prstGeom prst="ellipse">
            <a:avLst/>
          </a:prstGeom>
          <a:solidFill>
            <a:srgbClr val="D5DCE5"/>
          </a:solidFill>
          <a:ln w="12700">
            <a:solidFill>
              <a:srgbClr val="D5DCE5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87168" y="4800600"/>
            <a:ext cx="96012" cy="96012"/>
          </a:xfrm>
          <a:prstGeom prst="ellipse">
            <a:avLst/>
          </a:prstGeom>
          <a:solidFill>
            <a:srgbClr val="D5DCE5"/>
          </a:solidFill>
          <a:ln w="12700">
            <a:solidFill>
              <a:srgbClr val="D5DCE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42232" y="1920240"/>
            <a:ext cx="0" cy="361188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32504" y="3602736"/>
            <a:ext cx="219456" cy="219456"/>
          </a:xfrm>
          <a:prstGeom prst="ellipse">
            <a:avLst/>
          </a:prstGeom>
          <a:solidFill>
            <a:srgbClr val="76B9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24528" y="3712464"/>
            <a:ext cx="347472" cy="0"/>
          </a:xfrm>
          <a:prstGeom prst="line">
            <a:avLst/>
          </a:prstGeom>
          <a:noFill/>
          <a:ln w="1524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4663440" y="1700784"/>
            <a:ext cx="3246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D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 NEC 的优势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端侧 AI 性能和生态压倒性强；模型、仿真、推理、硬件形成一体化平台。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4663440" y="1700784"/>
            <a:ext cx="64008" cy="192024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858768"/>
            <a:ext cx="3246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DFB8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 NEC 的劣势 / 盲区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网络/通信调度、工厂专网、远程监控、与企业系统的安全集成不是 NVIDIA 主要交付边界。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4663440" y="3858768"/>
            <a:ext cx="64008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1700784"/>
            <a:ext cx="3246120" cy="3849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6F9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当前位置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招聘明确写 VLM/VLA 轻量化、远程监控/控制视频配信、Physical AI ICT 基盘。它可能成为“机器人群的网络控制层”。</a:t>
            </a:r>
            <a:endParaRPr lang="en-US" sz="1070" dirty="0"/>
          </a:p>
        </p:txBody>
      </p:sp>
      <p:sp>
        <p:nvSpPr>
          <p:cNvPr id="30" name="Shape 28"/>
          <p:cNvSpPr/>
          <p:nvPr/>
        </p:nvSpPr>
        <p:spPr>
          <a:xfrm>
            <a:off x="8229600" y="1700784"/>
            <a:ext cx="64008" cy="3849624"/>
          </a:xfrm>
          <a:prstGeom prst="rect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5650992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8A95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Sources: Jetson Thor official; NEC job code 4501</a:t>
            </a:r>
            <a:endParaRPr lang="en-US" sz="620" dirty="0"/>
          </a:p>
        </p:txBody>
      </p:sp>
      <p:sp>
        <p:nvSpPr>
          <p:cNvPr id="32" name="Text 30"/>
          <p:cNvSpPr/>
          <p:nvPr/>
        </p:nvSpPr>
        <p:spPr>
          <a:xfrm>
            <a:off x="594360" y="6547104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9AA4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× NVIDIA Physical AI 对比｜公开资料 + 架构推断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5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领域九：安全、约束与工业可验证性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越靠近真实工厂，NEC 的“保守架构”越有价值。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98448"/>
            <a:ext cx="438912" cy="292608"/>
          </a:xfrm>
          <a:prstGeom prst="rect">
            <a:avLst/>
          </a:prstGeom>
          <a:solidFill>
            <a:srgbClr val="FFFFFF">
              <a:alpha val="92000"/>
            </a:srgbClr>
          </a:solidFill>
          <a:ln w="15240">
            <a:solidFill>
              <a:srgbClr val="76B900">
                <a:alpha val="9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6B9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5568" y="13258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专业领域对比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847088"/>
            <a:ext cx="1371600" cy="246888"/>
          </a:xfrm>
          <a:prstGeom prst="rect">
            <a:avLst/>
          </a:prstGeom>
          <a:solidFill>
            <a:srgbClr val="F2FCE5"/>
          </a:solidFill>
          <a:ln w="12700">
            <a:solidFill>
              <a:srgbClr val="76B900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76B9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NVIDIA 项目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713232" y="2139696"/>
            <a:ext cx="3154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Isaac safety / partner validation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13232" y="2944368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进展：NVIDIA 提供仿真评估、edge runtime 和机器人软件生态；安全需要与机器人厂、现场安全系统共同完成。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8952" y="459943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NVIDIA 成熟度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758952" y="4800600"/>
            <a:ext cx="96012" cy="9601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3544" y="4800600"/>
            <a:ext cx="96012" cy="9601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8136" y="4800600"/>
            <a:ext cx="96012" cy="9601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2728" y="4800600"/>
            <a:ext cx="96012" cy="9601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17320" y="4800600"/>
            <a:ext cx="96012" cy="96012"/>
          </a:xfrm>
          <a:prstGeom prst="ellipse">
            <a:avLst/>
          </a:prstGeom>
          <a:solidFill>
            <a:srgbClr val="D5DCE5"/>
          </a:solidFill>
          <a:ln w="12700">
            <a:solidFill>
              <a:srgbClr val="D5DCE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459943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对应成熟度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1828800" y="4800600"/>
            <a:ext cx="96012" cy="96012"/>
          </a:xfrm>
          <a:prstGeom prst="ellipse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93392" y="4800600"/>
            <a:ext cx="96012" cy="96012"/>
          </a:xfrm>
          <a:prstGeom prst="ellipse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57984" y="4800600"/>
            <a:ext cx="96012" cy="96012"/>
          </a:xfrm>
          <a:prstGeom prst="ellipse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22576" y="4800600"/>
            <a:ext cx="96012" cy="96012"/>
          </a:xfrm>
          <a:prstGeom prst="ellipse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87168" y="4800600"/>
            <a:ext cx="96012" cy="96012"/>
          </a:xfrm>
          <a:prstGeom prst="ellipse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42232" y="1920240"/>
            <a:ext cx="0" cy="361188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32504" y="3602736"/>
            <a:ext cx="219456" cy="219456"/>
          </a:xfrm>
          <a:prstGeom prst="ellipse">
            <a:avLst/>
          </a:prstGeom>
          <a:solidFill>
            <a:srgbClr val="0070C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24528" y="3712464"/>
            <a:ext cx="347472" cy="0"/>
          </a:xfrm>
          <a:prstGeom prst="line">
            <a:avLst/>
          </a:prstGeom>
          <a:noFill/>
          <a:ln w="15240">
            <a:solidFill>
              <a:srgbClr val="0070C9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4663440" y="1700784"/>
            <a:ext cx="3246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D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 NEC 的优势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能大规模仿真测试 policy；硬件生态成熟，便于机器人厂快速构建新平台。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4663440" y="1700784"/>
            <a:ext cx="64008" cy="192024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858768"/>
            <a:ext cx="3246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DFB8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 NEC 的劣势 / 盲区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foundation policy 的行为边界不容易证明；需要额外 guardrail、constraint layer、human-safety policy。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4663440" y="3858768"/>
            <a:ext cx="64008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1700784"/>
            <a:ext cx="3246120" cy="3849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6F9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当前位置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的思路是默认 AI 不可信：LLM 只提议，PDDL/solver/world model/physics simulator 验证后再执行。劣势是系统更重、泛化更慢。</a:t>
            </a:r>
            <a:endParaRPr lang="en-US" sz="1070" dirty="0"/>
          </a:p>
        </p:txBody>
      </p:sp>
      <p:sp>
        <p:nvSpPr>
          <p:cNvPr id="30" name="Shape 28"/>
          <p:cNvSpPr/>
          <p:nvPr/>
        </p:nvSpPr>
        <p:spPr>
          <a:xfrm>
            <a:off x="8229600" y="1700784"/>
            <a:ext cx="64008" cy="3849624"/>
          </a:xfrm>
          <a:prstGeom prst="rect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5650992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8A95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Sources: NEC Real-World Agent; NEC multi-agent planning; Isaac Lab</a:t>
            </a:r>
            <a:endParaRPr lang="en-US" sz="620" dirty="0"/>
          </a:p>
        </p:txBody>
      </p:sp>
      <p:sp>
        <p:nvSpPr>
          <p:cNvPr id="32" name="Text 30"/>
          <p:cNvSpPr/>
          <p:nvPr/>
        </p:nvSpPr>
        <p:spPr>
          <a:xfrm>
            <a:off x="594360" y="6547104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9AA4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× NVIDIA Physical AI 对比｜公开资料 + 架构推断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5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领域十：工厂 SI、业务落地与客户现场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这里两家公司商业边界完全不同。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98448"/>
            <a:ext cx="438912" cy="292608"/>
          </a:xfrm>
          <a:prstGeom prst="rect">
            <a:avLst/>
          </a:prstGeom>
          <a:solidFill>
            <a:srgbClr val="FFFFFF">
              <a:alpha val="92000"/>
            </a:srgbClr>
          </a:solidFill>
          <a:ln w="15240">
            <a:solidFill>
              <a:srgbClr val="76B900">
                <a:alpha val="9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6B9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5568" y="13258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专业领域对比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847088"/>
            <a:ext cx="1371600" cy="246888"/>
          </a:xfrm>
          <a:prstGeom prst="rect">
            <a:avLst/>
          </a:prstGeom>
          <a:solidFill>
            <a:srgbClr val="F2FCE5"/>
          </a:solidFill>
          <a:ln w="12700">
            <a:solidFill>
              <a:srgbClr val="76B900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76B9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NVIDIA 项目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713232" y="2139696"/>
            <a:ext cx="3154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Platform provider for robot makers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13232" y="2944368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进展：NVIDIA 提供 physical AI foundational stack，面向机器人厂、开发者、仿真和端侧计算生态。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8952" y="459943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NVIDIA 成熟度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758952" y="4800600"/>
            <a:ext cx="96012" cy="9601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3544" y="4800600"/>
            <a:ext cx="96012" cy="9601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8136" y="4800600"/>
            <a:ext cx="96012" cy="9601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2728" y="4800600"/>
            <a:ext cx="96012" cy="9601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17320" y="4800600"/>
            <a:ext cx="96012" cy="96012"/>
          </a:xfrm>
          <a:prstGeom prst="ellipse">
            <a:avLst/>
          </a:prstGeom>
          <a:solidFill>
            <a:srgbClr val="D5DCE5"/>
          </a:solidFill>
          <a:ln w="12700">
            <a:solidFill>
              <a:srgbClr val="D5DCE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459943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对应成熟度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1828800" y="4800600"/>
            <a:ext cx="96012" cy="96012"/>
          </a:xfrm>
          <a:prstGeom prst="ellipse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93392" y="4800600"/>
            <a:ext cx="96012" cy="96012"/>
          </a:xfrm>
          <a:prstGeom prst="ellipse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57984" y="4800600"/>
            <a:ext cx="96012" cy="96012"/>
          </a:xfrm>
          <a:prstGeom prst="ellipse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22576" y="4800600"/>
            <a:ext cx="96012" cy="96012"/>
          </a:xfrm>
          <a:prstGeom prst="ellipse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87168" y="4800600"/>
            <a:ext cx="96012" cy="96012"/>
          </a:xfrm>
          <a:prstGeom prst="ellipse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42232" y="1920240"/>
            <a:ext cx="0" cy="361188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32504" y="3602736"/>
            <a:ext cx="219456" cy="219456"/>
          </a:xfrm>
          <a:prstGeom prst="ellipse">
            <a:avLst/>
          </a:prstGeom>
          <a:solidFill>
            <a:srgbClr val="0070C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24528" y="3712464"/>
            <a:ext cx="347472" cy="0"/>
          </a:xfrm>
          <a:prstGeom prst="line">
            <a:avLst/>
          </a:prstGeom>
          <a:noFill/>
          <a:ln w="15240">
            <a:solidFill>
              <a:srgbClr val="0070C9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4663440" y="1700784"/>
            <a:ext cx="3246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D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 NEC 的优势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横向生态能力强，能让很多机器人厂站在同一底座上；迭代速度快。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4663440" y="1700784"/>
            <a:ext cx="64008" cy="192024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858768"/>
            <a:ext cx="3246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DFB8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 NEC 的劣势 / 盲区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通常不会替客户完整建 MES/WMS/PLC/安全规程/人机流程；最后一公里依赖 partner。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4663440" y="3858768"/>
            <a:ext cx="64008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1700784"/>
            <a:ext cx="3246120" cy="3849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6F9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当前位置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作为 SI/ICT/行业系统供应商，更有动机接管“现场运行权”：排产、调度、约束、网络、安全、ERP/MES/WMS 对接。</a:t>
            </a:r>
            <a:endParaRPr lang="en-US" sz="1070" dirty="0"/>
          </a:p>
        </p:txBody>
      </p:sp>
      <p:sp>
        <p:nvSpPr>
          <p:cNvPr id="30" name="Shape 28"/>
          <p:cNvSpPr/>
          <p:nvPr/>
        </p:nvSpPr>
        <p:spPr>
          <a:xfrm>
            <a:off x="8229600" y="1700784"/>
            <a:ext cx="64008" cy="3849624"/>
          </a:xfrm>
          <a:prstGeom prst="rect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5650992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8A95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Sources: NEC MTP 2030; NEC Real-World Agent; NVIDIA Cosmos/Isaac platform pages</a:t>
            </a:r>
            <a:endParaRPr lang="en-US" sz="620" dirty="0"/>
          </a:p>
        </p:txBody>
      </p:sp>
      <p:sp>
        <p:nvSpPr>
          <p:cNvPr id="32" name="Text 30"/>
          <p:cNvSpPr/>
          <p:nvPr/>
        </p:nvSpPr>
        <p:spPr>
          <a:xfrm>
            <a:off x="594360" y="6547104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9AA4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× NVIDIA Physical AI 对比｜公开资料 + 架构推断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5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总评分：底层智能 NVIDIA 领先；工业控制 NEC 反而强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评分是基于公开技术成熟度与系统完整度的架构判断。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13232" y="14173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专业领域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91840" y="1417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6B9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NVIDIA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937760" y="1417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766560" y="14173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判断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94360" y="1719072"/>
            <a:ext cx="1097280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76479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Physical FM / WAM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3337560" y="1783080"/>
            <a:ext cx="1280160" cy="109728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83480" y="1783080"/>
            <a:ext cx="256032" cy="109728"/>
          </a:xfrm>
          <a:prstGeom prst="rect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1764792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NVIDIA 领先一代以上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2157984"/>
            <a:ext cx="10972800" cy="35661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203704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VLA / general policy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3337560" y="2221992"/>
            <a:ext cx="1280160" cy="109728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83480" y="2221992"/>
            <a:ext cx="512064" cy="109728"/>
          </a:xfrm>
          <a:prstGeom prst="rect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2203704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尚无同级公开模型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2596896"/>
            <a:ext cx="1097280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2642616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Simulation / data flywheel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3337560" y="2660904"/>
            <a:ext cx="1280160" cy="109728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83480" y="2660904"/>
            <a:ext cx="512064" cy="109728"/>
          </a:xfrm>
          <a:prstGeom prst="rect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2642616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NVIDIA 生态与规模优势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94360" y="3035808"/>
            <a:ext cx="10972800" cy="35661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3081528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Manipulation learning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3337560" y="3099816"/>
            <a:ext cx="1280160" cy="109728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83480" y="3099816"/>
            <a:ext cx="768096" cy="109728"/>
          </a:xfrm>
          <a:prstGeom prst="rect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3081528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扎实但偏任务专用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94360" y="3474720"/>
            <a:ext cx="1097280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3520440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World-model verification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3337560" y="3538728"/>
            <a:ext cx="1280160" cy="109728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83480" y="3538728"/>
            <a:ext cx="768096" cy="109728"/>
          </a:xfrm>
          <a:prstGeom prst="rect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3520440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NVIDIA 通用；NEC 可验证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94360" y="3913632"/>
            <a:ext cx="10972800" cy="35661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395935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Planning / orchestration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3337560" y="3977640"/>
            <a:ext cx="768096" cy="109728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83480" y="3977640"/>
            <a:ext cx="1024128" cy="109728"/>
          </a:xfrm>
          <a:prstGeom prst="rect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66560" y="3959352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更贴近工厂约束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94360" y="4352544"/>
            <a:ext cx="1097280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3232" y="4398264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Human-aware control</a:t>
            </a:r>
            <a:endParaRPr lang="en-US" sz="860" dirty="0"/>
          </a:p>
        </p:txBody>
      </p:sp>
      <p:sp>
        <p:nvSpPr>
          <p:cNvPr id="41" name="Shape 39"/>
          <p:cNvSpPr/>
          <p:nvPr/>
        </p:nvSpPr>
        <p:spPr>
          <a:xfrm>
            <a:off x="3337560" y="4416552"/>
            <a:ext cx="1024128" cy="109728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83480" y="4416552"/>
            <a:ext cx="1024128" cy="109728"/>
          </a:xfrm>
          <a:prstGeom prst="rect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0" y="4398264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更具体、更工程化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94360" y="4791456"/>
            <a:ext cx="10972800" cy="35661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3232" y="4837176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Edge / network</a:t>
            </a:r>
            <a:endParaRPr lang="en-US" sz="860" dirty="0"/>
          </a:p>
        </p:txBody>
      </p:sp>
      <p:sp>
        <p:nvSpPr>
          <p:cNvPr id="46" name="Shape 44"/>
          <p:cNvSpPr/>
          <p:nvPr/>
        </p:nvSpPr>
        <p:spPr>
          <a:xfrm>
            <a:off x="3337560" y="4855464"/>
            <a:ext cx="1280160" cy="109728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983480" y="4855464"/>
            <a:ext cx="768096" cy="109728"/>
          </a:xfrm>
          <a:prstGeom prst="rect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66560" y="4837176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NVIDIA 算力；NEC 通信集成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94360" y="5230368"/>
            <a:ext cx="1097280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3232" y="5276088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Safety / SI / constraints</a:t>
            </a:r>
            <a:endParaRPr lang="en-US" sz="860" dirty="0"/>
          </a:p>
        </p:txBody>
      </p:sp>
      <p:sp>
        <p:nvSpPr>
          <p:cNvPr id="51" name="Shape 49"/>
          <p:cNvSpPr/>
          <p:nvPr/>
        </p:nvSpPr>
        <p:spPr>
          <a:xfrm>
            <a:off x="3337560" y="5294376"/>
            <a:ext cx="1024128" cy="109728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983480" y="5294376"/>
            <a:ext cx="1280160" cy="109728"/>
          </a:xfrm>
          <a:prstGeom prst="rect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66560" y="5276088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更强的最后一公里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68680" y="5788152"/>
            <a:ext cx="102412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7FE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一句话结论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不是“落后版 NVIDIA”。它缺 foundation model 与数据飞轮，但在 planner / solver / safety / factory SI 这条工业控制链上，它选择的是另一套更保守、更可验证的路线。</a:t>
            </a:r>
            <a:endParaRPr lang="en-US" sz="1120" dirty="0"/>
          </a:p>
        </p:txBody>
      </p:sp>
      <p:sp>
        <p:nvSpPr>
          <p:cNvPr id="55" name="Shape 53"/>
          <p:cNvSpPr/>
          <p:nvPr/>
        </p:nvSpPr>
        <p:spPr>
          <a:xfrm>
            <a:off x="868680" y="5788152"/>
            <a:ext cx="64008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4360" y="6547104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9AA4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× NVIDIA Physical AI 对比｜公开资料 + 架构推断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5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到底走到哪一步了？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7C2D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把它放在 NVIDIA 当前路线图上看，大致是“上层工业编排成熟、底层模型缺失”。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68680" y="14356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底层通用智能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566160" y="1508760"/>
            <a:ext cx="5943600" cy="21031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66160" y="1508760"/>
            <a:ext cx="2080260" cy="210312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46920" y="147218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6B9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35%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584448" y="180136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B7C2D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Cosmos / GR00T 级缺口最大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868680" y="23957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单机器人 learned control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66160" y="2468880"/>
            <a:ext cx="5943600" cy="21031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66160" y="2468880"/>
            <a:ext cx="3268980" cy="210312"/>
          </a:xfrm>
          <a:prstGeom prst="rect">
            <a:avLst/>
          </a:prstGeom>
          <a:solidFill>
            <a:srgbClr val="5AB0FF"/>
          </a:solidFill>
          <a:ln w="12700">
            <a:solidFill>
              <a:srgbClr val="5AB0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46920" y="243230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AB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55%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84448" y="27614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B7C2D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在 2023–2024 世界模型 + 轨迹生成范式上很扎实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868680" y="33558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工业编排 / 约束规划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566160" y="3429000"/>
            <a:ext cx="5943600" cy="21031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66160" y="3429000"/>
            <a:ext cx="5349240" cy="2103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46920" y="33924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90%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584448" y="372160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B7C2D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可能接近甚至超过 NVIDIA 自己交付边界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868680" y="43159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 Physical AI platform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566160" y="4389120"/>
            <a:ext cx="5943600" cy="21031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66160" y="4389120"/>
            <a:ext cx="3447288" cy="2103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46920" y="435254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58%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584448" y="468172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B7C2D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如果接入外部 WAM/VLA，进展会突然加速</a:t>
            </a:r>
            <a:endParaRPr lang="en-US" sz="830" dirty="0"/>
          </a:p>
        </p:txBody>
      </p:sp>
      <p:sp>
        <p:nvSpPr>
          <p:cNvPr id="25" name="Text 23"/>
          <p:cNvSpPr/>
          <p:nvPr/>
        </p:nvSpPr>
        <p:spPr>
          <a:xfrm>
            <a:off x="868680" y="55412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6B9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关键判断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20240" y="55046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最合理路线不是自研“日本 GR00T”，而是把外部 WAM/VLA 接入自己的 planner / verification / SI 层。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94360" y="6547104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9AA4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× NVIDIA Physical AI 对比｜公开资料 + 架构推断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5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未来 18–36 个月该看什么信号？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判断 NEC 是否真正追上下一代，不看口号，看这三个技术门槛。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77240" y="1508760"/>
            <a:ext cx="475488" cy="329184"/>
          </a:xfrm>
          <a:prstGeom prst="rect">
            <a:avLst/>
          </a:prstGeom>
          <a:solidFill>
            <a:srgbClr val="FFF7E6"/>
          </a:solidFill>
          <a:ln w="12700">
            <a:solidFill>
              <a:srgbClr val="F2CF8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35608" y="15087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VLA/WAM 接入执行层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35608" y="1920240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 skill library + controller，升级为可 post-train 的 generalist policy。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6263640" y="1508760"/>
            <a:ext cx="475488" cy="329184"/>
          </a:xfrm>
          <a:prstGeom prst="rect">
            <a:avLst/>
          </a:prstGeom>
          <a:solidFill>
            <a:srgbClr val="FFF7E6"/>
          </a:solidFill>
          <a:ln w="12700">
            <a:solidFill>
              <a:srgbClr val="F2CF8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922008" y="15087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共享 Physical Representation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22008" y="1920240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多个小 predictor 合并到统一表征，而不是每个场景单独训练。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777240" y="3383280"/>
            <a:ext cx="475488" cy="329184"/>
          </a:xfrm>
          <a:prstGeom prst="rect">
            <a:avLst/>
          </a:prstGeom>
          <a:solidFill>
            <a:srgbClr val="FFF7E6"/>
          </a:solidFill>
          <a:ln w="12700">
            <a:solidFill>
              <a:srgbClr val="F2CF8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35608" y="33832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真实机器人数据飞轮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794760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真实演示 + 仿真 + 合成数据 + 现场反馈形成闭环。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6263640" y="3383280"/>
            <a:ext cx="475488" cy="329184"/>
          </a:xfrm>
          <a:prstGeom prst="rect">
            <a:avLst/>
          </a:prstGeom>
          <a:solidFill>
            <a:srgbClr val="FFF7E6"/>
          </a:solidFill>
          <a:ln w="12700">
            <a:solidFill>
              <a:srgbClr val="F2CF8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22008" y="33832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现场级验证闭环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22008" y="3794760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PDDL/TAMP/optimizer 与 foundation policy 互相约束，而不是两套系统并列。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914400" y="5276088"/>
            <a:ext cx="10287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最可能的融合形态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NVIDIA/Noetra/开源 VLA 提供底座；NEC 提供工厂 world state、约束管理、PDDL/TAMP、human-aware planning、网络和 SI。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914400" y="5276088"/>
            <a:ext cx="64008" cy="749808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6547104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9AA4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× NVIDIA Physical AI 对比｜公开资料 + 架构推断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5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对你自己的 UR5e + MechMind/ZED + 灵巧手路线的启发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不要在第一天复制 NVIDIA；更现实的是先做 NEC 式可验证闭环，再逐步接入 VLA/WAM。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85800" y="1600200"/>
            <a:ext cx="182880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D9E0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传感器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MechMind / ZED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RGB-D + pose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32888" y="1993392"/>
            <a:ext cx="365760" cy="0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953512" y="1600200"/>
            <a:ext cx="182880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D9E0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技能层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grasp / push / pull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place / regrasp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1993392"/>
            <a:ext cx="365760" cy="0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221224" y="1600200"/>
            <a:ext cx="182880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D9E0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预测层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success predictor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contact / reachability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068312" y="1993392"/>
            <a:ext cx="365760" cy="0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488936" y="1600200"/>
            <a:ext cx="182880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D9E0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规划层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PDDL / TAMP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constraint solver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336024" y="1993392"/>
            <a:ext cx="365760" cy="0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756648" y="1600200"/>
            <a:ext cx="1828800" cy="777240"/>
          </a:xfrm>
          <a:prstGeom prst="rect">
            <a:avLst/>
          </a:prstGeom>
          <a:solidFill>
            <a:srgbClr val="76B900"/>
          </a:solidFill>
          <a:ln w="15240">
            <a:solidFill>
              <a:srgbClr val="76B90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VLA层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OpenVLA / GR00T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post-train later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68680" y="3246120"/>
            <a:ext cx="3246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第一阶段：做 NEC 式闭环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先把任务拆解、可行性预测、失败复盘、约束验证做起来；这能最快形成“机器人系统工程能力”。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68680" y="3246120"/>
            <a:ext cx="64008" cy="1143000"/>
          </a:xfrm>
          <a:prstGeom prst="rect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3246120"/>
            <a:ext cx="3246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第二阶段：借 NVIDIA 式底座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等数据和 skill library 稳定后，再接入 GR00T / OpenVLA / Cosmos 类模型做泛化和新任务迁移。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480560" y="3246120"/>
            <a:ext cx="64008" cy="114300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92440" y="3246120"/>
            <a:ext cx="3246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最终目标：两派合体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VLA 提议动作；world model / solver 验证；controller 执行；日志回流训练。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92440" y="3246120"/>
            <a:ext cx="64008" cy="1143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62356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这也是工业 Physical AI 最现实的路线：foundation model 不必自己造，但约束闭环一定要自己掌握。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94360" y="6547104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9AA4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× NVIDIA Physical AI 对比｜公开资料 + 架构推断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5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主要资料来源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Deck 内判断基于公开资料与架构推断；没有把宣传词当成事实。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105613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NVIDIA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Cosmos official page；Cosmos 3 arXiv；NVIDIA developer blogs on Cosmos/WAM；Isaac GR00T GitHub &amp; developer blog；Isaac Lab official；Jetson Thor official；GR00T-Dreams GitHub。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822960" y="1325880"/>
            <a:ext cx="64008" cy="804672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468880"/>
            <a:ext cx="105613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NEC robot motion learning / world model technology page；NEC human-aware Physical AI press release；NEC Real-World Agent technical report；NEC Mid-term Management Plan 2030 press release；NEC Physical AI ICT platform hiring page。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822960" y="2468880"/>
            <a:ext cx="64008" cy="804672"/>
          </a:xfrm>
          <a:prstGeom prst="rect">
            <a:avLst/>
          </a:prstGeom>
          <a:solidFill>
            <a:srgbClr val="0070C9"/>
          </a:solidFill>
          <a:ln w="12700">
            <a:solidFill>
              <a:srgbClr val="0070C9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611880"/>
            <a:ext cx="105613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Papers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Hierarchical LLM-Based Multi-Agent Framework with Prompt Optimization for Multi-Robot Task Planning, arXiv 2602.21670；FIRP / Future Predictive Success-or-Failure Classification for Robotic Manipulation, arXiv 2404.03415。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822960" y="3611880"/>
            <a:ext cx="64008" cy="8046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754880"/>
            <a:ext cx="105613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推断边界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 NEC 内部架构的判断属于“高概率逆向分析”，不是 NEC 官方确认；尤其是模块间接口、实际商业产品形态和未公开数据规模需要后续验证。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22960" y="4754880"/>
            <a:ext cx="64008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6547104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9AA4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注：未使用非公开内部资料；所有“领先/落后”均是基于公开技术栈成熟度的分析判断。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5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NEC Physical AI vs NVIDIA 技术架构对比</dc:title>
  <dc:subject>NEC Physical AI vs NVIDIA Physical AI</dc:subject>
  <dc:creator>OpenAI</dc:creator>
  <cp:lastModifiedBy>OpenAI</cp:lastModifiedBy>
  <cp:revision>1</cp:revision>
  <dcterms:created xsi:type="dcterms:W3CDTF">2026-08-19T01:40:52Z</dcterms:created>
  <dcterms:modified xsi:type="dcterms:W3CDTF">2026-08-19T01:40:52Z</dcterms:modified>
</cp:coreProperties>
</file>