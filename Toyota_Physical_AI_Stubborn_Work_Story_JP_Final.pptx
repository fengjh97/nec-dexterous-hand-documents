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e0eb9d85d4b31" /><Relationship Type="http://schemas.openxmlformats.org/officeDocument/2006/relationships/extended-properties" Target="/docProps/app.xml" Id="Rda70498e1d204748" /><Relationship Type="http://schemas.openxmlformats.org/officeDocument/2006/relationships/officeDocument" Target="/ppt/presentation.xml" Id="R4a1dfde0e7bc46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d7076d3c6f4173"/>
  </p:sldMasterIdLst>
  <p:notesMasterIdLst>
    <p:notesMasterId xmlns:r="http://schemas.openxmlformats.org/officeDocument/2006/relationships" r:id="R01623f3f96ba4b1c"/>
  </p:notesMasterIdLst>
  <p:sldIdLst>
    <p:sldId xmlns:r="http://schemas.openxmlformats.org/officeDocument/2006/relationships" id="256" r:id="R8c6d6ff91d624d5f"/>
    <p:sldId xmlns:r="http://schemas.openxmlformats.org/officeDocument/2006/relationships" id="257" r:id="R0fee6b061ad74dc4"/>
    <p:sldId xmlns:r="http://schemas.openxmlformats.org/officeDocument/2006/relationships" id="258" r:id="R3cf8befa85af4641"/>
    <p:sldId xmlns:r="http://schemas.openxmlformats.org/officeDocument/2006/relationships" id="259" r:id="R5962f864541244cd"/>
    <p:sldId xmlns:r="http://schemas.openxmlformats.org/officeDocument/2006/relationships" id="260" r:id="R52dd2da07c28487f"/>
    <p:sldId xmlns:r="http://schemas.openxmlformats.org/officeDocument/2006/relationships" id="261" r:id="R87fa3ebfe086428e"/>
    <p:sldId xmlns:r="http://schemas.openxmlformats.org/officeDocument/2006/relationships" id="262" r:id="Re6a4c258fa1f4081"/>
    <p:sldId xmlns:r="http://schemas.openxmlformats.org/officeDocument/2006/relationships" id="263" r:id="R3ccbcfc8ce6a412b"/>
    <p:sldId xmlns:r="http://schemas.openxmlformats.org/officeDocument/2006/relationships" id="264" r:id="Rd672bf4d106d41d2"/>
    <p:sldId xmlns:r="http://schemas.openxmlformats.org/officeDocument/2006/relationships" id="265" r:id="R201ef54330fa41d6"/>
    <p:sldId xmlns:r="http://schemas.openxmlformats.org/officeDocument/2006/relationships" id="266" r:id="Rd95b9ae59c4345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d98b01bf084410" /><Relationship Type="http://schemas.openxmlformats.org/officeDocument/2006/relationships/slideMaster" Target="/ppt/slideMasters/slideMaster1.xml" Id="R42d7076d3c6f4173" /><Relationship Type="http://schemas.openxmlformats.org/officeDocument/2006/relationships/notesMaster" Target="/ppt/notesMasters/notesMaster1.xml" Id="R01623f3f96ba4b1c" /><Relationship Type="http://schemas.openxmlformats.org/officeDocument/2006/relationships/presProps" Target="/ppt/presProps.xml" Id="Rb2965da87065413e" /><Relationship Type="http://schemas.openxmlformats.org/officeDocument/2006/relationships/tableStyles" Target="/ppt/tableStyles.xml" Id="R2aef1079590e4cfa" /><Relationship Type="http://schemas.openxmlformats.org/officeDocument/2006/relationships/slide" Target="/ppt/slides/slide1.xml" Id="R8c6d6ff91d624d5f" /><Relationship Type="http://schemas.openxmlformats.org/officeDocument/2006/relationships/slide" Target="/ppt/slides/slide2.xml" Id="R0fee6b061ad74dc4" /><Relationship Type="http://schemas.openxmlformats.org/officeDocument/2006/relationships/slide" Target="/ppt/slides/slide3.xml" Id="R3cf8befa85af4641" /><Relationship Type="http://schemas.openxmlformats.org/officeDocument/2006/relationships/slide" Target="/ppt/slides/slide4.xml" Id="R5962f864541244cd" /><Relationship Type="http://schemas.openxmlformats.org/officeDocument/2006/relationships/slide" Target="/ppt/slides/slide5.xml" Id="R52dd2da07c28487f" /><Relationship Type="http://schemas.openxmlformats.org/officeDocument/2006/relationships/slide" Target="/ppt/slides/slide6.xml" Id="R87fa3ebfe086428e" /><Relationship Type="http://schemas.openxmlformats.org/officeDocument/2006/relationships/slide" Target="/ppt/slides/slide7.xml" Id="Re6a4c258fa1f4081" /><Relationship Type="http://schemas.openxmlformats.org/officeDocument/2006/relationships/slide" Target="/ppt/slides/slide8.xml" Id="R3ccbcfc8ce6a412b" /><Relationship Type="http://schemas.openxmlformats.org/officeDocument/2006/relationships/slide" Target="/ppt/slides/slide9.xml" Id="Rd672bf4d106d41d2" /><Relationship Type="http://schemas.openxmlformats.org/officeDocument/2006/relationships/slide" Target="/ppt/slides/slide10.xml" Id="R201ef54330fa41d6" /><Relationship Type="http://schemas.openxmlformats.org/officeDocument/2006/relationships/slide" Target="/ppt/slides/slide11.xml" Id="Rd95b9ae59c4345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fd021a65c7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7d7e747f448c2" /><Relationship Type="http://schemas.openxmlformats.org/officeDocument/2006/relationships/notesMaster" Target="/ppt/notesMasters/notesMaster1.xml" Id="R7a00a0e4ad36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46b402b6cd48ee" /><Relationship Type="http://schemas.openxmlformats.org/officeDocument/2006/relationships/notesMaster" Target="/ppt/notesMasters/notesMaster1.xml" Id="Ra451a578b146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e8c41b8f864494" /><Relationship Type="http://schemas.openxmlformats.org/officeDocument/2006/relationships/notesMaster" Target="/ppt/notesMasters/notesMaster1.xml" Id="Rf209fedcb6c74d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5576b2a16d49b7" /><Relationship Type="http://schemas.openxmlformats.org/officeDocument/2006/relationships/notesMaster" Target="/ppt/notesMasters/notesMaster1.xml" Id="R893347c38330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8bfb5dd5af46d8" /><Relationship Type="http://schemas.openxmlformats.org/officeDocument/2006/relationships/notesMaster" Target="/ppt/notesMasters/notesMaster1.xml" Id="Rdb88851ef81f49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16392a83cc40cb" /><Relationship Type="http://schemas.openxmlformats.org/officeDocument/2006/relationships/notesMaster" Target="/ppt/notesMasters/notesMaster1.xml" Id="R2f2b83a395394c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740b4ce50d4869" /><Relationship Type="http://schemas.openxmlformats.org/officeDocument/2006/relationships/notesMaster" Target="/ppt/notesMasters/notesMaster1.xml" Id="R10a61014fdb84a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d0698d6ecd464b" /><Relationship Type="http://schemas.openxmlformats.org/officeDocument/2006/relationships/notesMaster" Target="/ppt/notesMasters/notesMaster1.xml" Id="Ra8801bc9ef2f48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9f4df349954438" /><Relationship Type="http://schemas.openxmlformats.org/officeDocument/2006/relationships/notesMaster" Target="/ppt/notesMasters/notesMaster1.xml" Id="R63f50d87b93f4f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4c64e121a9401d" /><Relationship Type="http://schemas.openxmlformats.org/officeDocument/2006/relationships/notesMaster" Target="/ppt/notesMasters/notesMaster1.xml" Id="Rb766476a330443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f36ffee2694219" /><Relationship Type="http://schemas.openxmlformats.org/officeDocument/2006/relationships/notesMaster" Target="/ppt/notesMasters/notesMaster1.xml" Id="Ra1670345fea84a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User-provided: Toyota_World_Model_Physical_AI_Technical_Roadmap_CN.docx</a:t>
            </a:r>
          </a:p>
          <a:p xmlns:a="http://schemas.openxmlformats.org/drawingml/2006/main">
            <a:r>
              <a:t>- User-provided: TMC_World_Model_Robotics_Report_CN.docx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冒頭では目的だけを示す。モデルを追うことが目的ではなく、最後の5～20 cmに残る自動化困難作業を解くことが目的。強化学習は精密接触、世界モデルは動作結果の予測、工程条件・PLC・アンドンは最終安全境界を担う。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User-provided: Toyota_World_Model_Physical_AI_Technical_Roadmap_CN.docx</a:t>
            </a:r>
          </a:p>
          <a:p xmlns:a="http://schemas.openxmlformats.org/drawingml/2006/main">
            <a:r>
              <a:t>- User-provided: NVIDIA_UR10e_齿轮装配强化学习项目_公开性审计与12周行动方案.docx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最後の5～20 cmは接近・予備位置決めの業務スケールであり、接触閉ループは主に最後の5～20 mmに集中する。対象は歯車、コネクタ、配線挿入、嵌合、クリップ。最初の証拠としてNVIDIAの歯車組付けを選ぶ。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technical blog: https://developer.nvidia.com/blog/bridging-the-sim-to-real-gap-for-industrial-robotic-assembly-applications-using-nvidia-isaac-lab/</a:t>
            </a:r>
          </a:p>
          <a:p xmlns:a="http://schemas.openxmlformats.org/drawingml/2006/main">
            <a:r>
              <a:t>- NVIDIA Isaac Lab gear assembly: https://isaac-sim.github.io/IsaacLab/main/source/policy_deployment/02_gear_assembly/gear_assembly_policy.html</a:t>
            </a:r>
          </a:p>
          <a:p xmlns:a="http://schemas.openxmlformats.org/drawingml/2006/main">
            <a:r>
              <a:t>- NVIDIA Isaac ROS reference workflow: https://nvidia-isaac-ros.github.io/reference_workflows/isaac_for_manipulation/tutorials/sim_to_real/tutorial_gear_assembly.html</a:t>
            </a:r>
          </a:p>
          <a:p xmlns:a="http://schemas.openxmlformats.org/drawingml/2006/main">
            <a:r>
              <a:t>- Visual: https://developer-blogs.nvidia.com/wp-content/uploads/2025/05/grasp-transport-insert-states-gear-assembly-task-ur10e-robot.png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NVIDIA公開手順は、認識、把持、搬送、接触挿入を実機UR10eまでつなぐ。公開資料では零ショットの実機移行、3サイズの歯車、60 Hzの方策出力、500 Hzの下位インピーダンス制御を説明している。特定のミリ誤差は公表値として主張せず、接触を伴う挿入が実機で成立したことを示す。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official video: https://www.youtube.com/watch?v=2zz4HV0hYag</a:t>
            </a:r>
          </a:p>
          <a:p xmlns:a="http://schemas.openxmlformats.org/drawingml/2006/main">
            <a:r>
              <a:t>- NVIDIA technical blog: https://developer.nvidia.com/blog/bridging-the-sim-to-real-gap-for-industrial-robotic-assembly-applications-using-nvidia-isaac-lab/</a:t>
            </a:r>
          </a:p>
          <a:p xmlns:a="http://schemas.openxmlformats.org/drawingml/2006/main">
            <a:r>
              <a:t>- Thumbnail: https://img.youtube.com/vi/2zz4HV0hYag/maxresdefault.jpg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中央の赤いボタンをクリックするとNVIDIA公式YouTube動画が開く。実機UR10e、ROBOTIQグリッパ、3個の歯車の組付けを確認する。動画は外部リンクのため、会議前にネットワーク接続を確認する。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User-provided: Toyota_World_Model_Physical_AI_Technical_Roadmap_CN.docx</a:t>
            </a:r>
          </a:p>
          <a:p xmlns:a="http://schemas.openxmlformats.org/drawingml/2006/main">
            <a:r>
              <a:t>- User-provided: TMC_World_Model_Robotics_Report_CN.docx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ゼロからの再構築ではない。RGB-D、6D姿勢、世界状態、作業指示、cuMotion、把持、UR制御はそのまま生かす。追加する20%はF/Tと強化学習の接触閉ループ、かじり保護、復旧、完全な作業履歴である。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Isaac Lab gear assembly: https://isaac-sim.github.io/IsaacLab/main/source/policy_deployment/02_gear_assembly/gear_assembly_policy.html</a:t>
            </a:r>
          </a:p>
          <a:p xmlns:a="http://schemas.openxmlformats.org/drawingml/2006/main">
            <a:r>
              <a:t>- NVIDIA Isaac ROS gear assembly: https://nvidia-isaac-ros.github.io/reference_workflows/isaac_for_manipulation/tutorials/sim_to_real/tutorial_gear_assembly.html</a:t>
            </a:r>
          </a:p>
          <a:p xmlns:a="http://schemas.openxmlformats.org/drawingml/2006/main">
            <a:r>
              <a:t>- User-provided: NVIDIA_UR10e_齿轮装配强化学习项目_公开性审计与12周行动方案.docx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主観的な「実装可能性・高」は使わない。上段は公式公開値。3サイズ、256並列環境、標準12〜24時間、30 Hz方策と500 Hz下位制御。下段は社内PoCの提案Gate。G1で公式基準系、G2でトヨタ治具と感知、G3で実機反復を判定する。公式資産で着手はできるが、治具、公差、安全回路、実機応答は自社実装である。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Isaac Lab gear assembly: https://isaac-sim.github.io/IsaacLab/main/source/policy_deployment/02_gear_assembly/gear_assembly_policy.html</a:t>
            </a:r>
          </a:p>
          <a:p xmlns:a="http://schemas.openxmlformats.org/drawingml/2006/main">
            <a:r>
              <a:t>- NVIDIA Isaac ROS gear assembly FAQ: https://nvidia-isaac-ros.github.io/reference_workflows/isaac_for_manipulation/tutorials/sim_to_real/tutorial_gear_assembly.html</a:t>
            </a:r>
          </a:p>
          <a:p xmlns:a="http://schemas.openxmlformats.org/drawingml/2006/main">
            <a:r>
              <a:t>- NVIDIA Cosmos 3: https://developer.nvidia.com/blog/develop-physical-ai-reasoning-world-and-action-models-with-nvidia-cosmos-3/</a:t>
            </a:r>
          </a:p>
          <a:p xmlns:a="http://schemas.openxmlformats.org/drawingml/2006/main">
            <a:r>
              <a:t>- User-provided: TMC_World_Model_Robotics_Report_CN.docx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Isaacの不足を抽象語で済ませない。公式手順自身が、接触の実在感を上げるにはソルバ反復を4から196へ上げる選択肢とGPU負荷を示す。また標定・深度誤差が約10 mmになると固定方策が失敗し得る。摩擦、潤滑、摩耗、公差、剛性、バックラッシ、遅れは実機に残る。そこでCosmosを候補動作の未来を予測する第二の証拠系として置く。工程、品質、復旧可否はトヨタ判定層、硬安全はPLC・アンドン・荷重上限が担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Cosmos 3 official blog and Figure 3: https://developer.nvidia.com/blog/develop-physical-ai-reasoning-world-and-action-models-with-nvidia-cosmos-3/</a:t>
            </a:r>
          </a:p>
          <a:p xmlns:a="http://schemas.openxmlformats.org/drawingml/2006/main">
            <a:r>
              <a:t>- NVIDIA Cosmos 3 technical report: https://research.nvidia.com/labs/cosmos-lab/cosmos3/</a:t>
            </a:r>
          </a:p>
          <a:p xmlns:a="http://schemas.openxmlformats.org/drawingml/2006/main">
            <a:r>
              <a:t>- User-provided: TMC_World_Model_Robotics_Report_CN.docx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先にCosmos 3の基本理念を説明する。公式構造は、自回帰の推論系が状態と意図を理解し、その情報を拡散型の生成系へ渡す。言語、画像、映像、音声、動作を同じ基盤で扱う。PoCでは順方向ダイナミクスだけを見る。同一初期状態から候補動作A/B/Cを与え、Cosmosの予測とUR10eの実測を照合する。評価は動作分離、終点誤差、接触時刻、危険見逃し。凍結基準より改善すれば制御しない並行評価へ。改善しなければToyota Netを拡張し、制御には入れない。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Cosmos repository: https://github.com/NVIDIA/Cosmos</a:t>
            </a:r>
          </a:p>
          <a:p xmlns:a="http://schemas.openxmlformats.org/drawingml/2006/main">
            <a:r>
              <a:t>- User-provided: TMC_World_Model_Robotics_Report_CN.docx</a:t>
            </a:r>
          </a:p>
          <a:p xmlns:a="http://schemas.openxmlformats.org/drawingml/2006/main">
            <a:r>
              <a:t>- User-provided: Toyota_World_Model_Physical_AI_Technical_Roadmap_CN.docx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Toyota Netの名称は残す。旧OK/NGは品質、工程外れ、異常の事前分布に使う。新規の歯車／実証では映像、状態、動作指令、F/T、結果、復旧をそろえる。二つをToyota Net次版として統合し、基盤Cosmosと条件統制比較を行う。共同開発の目的は、単なる画像提供ではなくトヨタ製造世界モデルである。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Toyota Production System / Jidoka: https://global.toyota/en/company/plant-tours/production-system/</a:t>
            </a:r>
          </a:p>
          <a:p xmlns:a="http://schemas.openxmlformats.org/drawingml/2006/main">
            <a:r>
              <a:t>- User-provided: TMC_World_Model_Robotics_Report_CN.docx</a:t>
            </a:r>
          </a:p>
          <a:p xmlns:a="http://schemas.openxmlformats.org/drawingml/2006/main">
            <a:r>
              <a:t>- User-provided: Toyota_World_Model_Physical_AI_Technical_Roadmap_CN.docx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最後は二つのモデルではなく二つの能力としてまとめる。強化学習は最後の精密操作と復旧、世界モデルは候補動作の結果と危険度の予測。トヨタ判定層、PLC、アンドンが実行可否を決める。目標状態は、異常を理解し、安全退避または復旧し、再作業し、結果を次の改善へ戻すこ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User-provided: NVIDIA_UR10e_齿轮装配强化学习项目_公开性审计与12周行动方案.docx</a:t>
            </a:r>
          </a:p>
          <a:p xmlns:a="http://schemas.openxmlformats.org/drawingml/2006/main">
            <a:r>
              <a:t>- User-provided: 灵巧手采购与RL适配最终决策报告_2026-08-19.docx</a:t>
            </a:r>
          </a:p>
          <a:p xmlns:a="http://schemas.openxmlformats.org/drawingml/2006/main">
            <a:r>
              <a:t>- User-provided: Toyota_World_Model_Physical_AI_Technical_Roadmap_CN.docx</a:t>
            </a:r>
          </a:p>
          <a:p xmlns:a="http://schemas.openxmlformats.org/drawingml/2006/main">
            <a:r>
              <a:t>- NVIDIA Isaac Lab gear assembly: https://isaac-sim.github.io/IsaacLab/main/source/policy_deployment/02_gear_assembly/gear_assembly_policy.html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発表者メモ</a:t>
            </a:r>
          </a:p>
          <a:p xmlns:a="http://schemas.openxmlformats.org/drawingml/2006/main">
            <a:r>
              <a:t>実行計画は二本立て。強化学習主軸はW21までに実機歯車とトヨタ実証を作る。作業履歴はW2から連続記録し、Toyota Net次版を育てる。Cosmosシャドー評価とNVIDIA共同提案はW22～W26に置き、最初の三か月の強化学習の重要経路を阻害しない。八タスク全てに週番号と実日付を表示する。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ddbbeb59a47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3472df93f4ff4" /><Relationship Type="http://schemas.openxmlformats.org/officeDocument/2006/relationships/slideLayout" Target="/ppt/slideLayouts/slideLayout1.xml" Id="R94b654d57076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654d57076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d20ba46194186" /><Relationship Type="http://schemas.openxmlformats.org/officeDocument/2006/relationships/notesSlide" Target="/ppt/notesSlides/notesSlide1.xml" Id="R255671db841742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99a200ed24cfe" /><Relationship Type="http://schemas.openxmlformats.org/officeDocument/2006/relationships/notesSlide" Target="/ppt/notesSlides/notesSlide2.xml" Id="Rea3d7a8167484b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71b57fcb14eea" /><Relationship Type="http://schemas.openxmlformats.org/officeDocument/2006/relationships/image" Target="/ppt/media/image.png" Id="R148d998c5ae84a8e" /><Relationship Type="http://schemas.openxmlformats.org/officeDocument/2006/relationships/notesSlide" Target="/ppt/notesSlides/notesSlide3.xml" Id="R3155c0f568e543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dc1f1c1824f37" /><Relationship Type="http://schemas.openxmlformats.org/officeDocument/2006/relationships/hyperlink" Target="https://www.youtube.com/watch?v=2zz4HV0hYag" TargetMode="External" Id="R2be65607c9134552" /><Relationship Type="http://schemas.openxmlformats.org/officeDocument/2006/relationships/image" Target="/ppt/media/image.jpeg" Id="Rf05f177e70624ede" /><Relationship Type="http://schemas.openxmlformats.org/officeDocument/2006/relationships/notesSlide" Target="/ppt/notesSlides/notesSlide4.xml" Id="R169f10a233b442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5fcb78cb04989" /><Relationship Type="http://schemas.openxmlformats.org/officeDocument/2006/relationships/notesSlide" Target="/ppt/notesSlides/notesSlide5.xml" Id="Rdbeb9b9c03e345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1320ff5b94905" /><Relationship Type="http://schemas.openxmlformats.org/officeDocument/2006/relationships/notesSlide" Target="/ppt/notesSlides/notesSlide6.xml" Id="R9de99c1740e042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b18541b641f6" /><Relationship Type="http://schemas.openxmlformats.org/officeDocument/2006/relationships/notesSlide" Target="/ppt/notesSlides/notesSlide7.xml" Id="R0a0b68c58e6b4b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169c6f35e4778" /><Relationship Type="http://schemas.openxmlformats.org/officeDocument/2006/relationships/hyperlink" Target="https://developer.nvidia.com/blog/develop-physical-ai-reasoning-world-and-action-models-with-nvidia-cosmos-3/" TargetMode="External" Id="R9f00e3cdb9024dfb" /><Relationship Type="http://schemas.openxmlformats.org/officeDocument/2006/relationships/image" Target="/ppt/media/image2.png" Id="Rf7eafff7f0a74919" /><Relationship Type="http://schemas.openxmlformats.org/officeDocument/2006/relationships/notesSlide" Target="/ppt/notesSlides/notesSlide8.xml" Id="Rb40bbcb7d66442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45955616a4cc0" /><Relationship Type="http://schemas.openxmlformats.org/officeDocument/2006/relationships/notesSlide" Target="/ppt/notesSlides/notesSlide9.xml" Id="R3f3650a5c2e842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edba4bb6d4cab" /><Relationship Type="http://schemas.openxmlformats.org/officeDocument/2006/relationships/notesSlide" Target="/ppt/notesSlides/notesSlide10.xml" Id="Rc5c8e5727f6145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010520d0b42ea" /><Relationship Type="http://schemas.openxmlformats.org/officeDocument/2006/relationships/notesSlide" Target="/ppt/notesSlides/notesSlide11.xml" Id="R84cf5c07ae094e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F82EF-D74E-45BC-846E-0E5EB15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874FA-2C02-4D32-AAB6-DE28DBD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-1809750"/>
            <a:ext cx="5429250" cy="542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30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627E2-D094-48FE-B10F-4109B00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143250"/>
            <a:ext cx="4095750" cy="409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111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51EFB-2AB6-4FDD-A566-2495CCDD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191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DCB33-0035-42CA-9517-32113CD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トヨタ・フィジカルAI構想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5EF15-8B87-4A68-B043-22FFC8A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2954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6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最後の5～20 cmを自動化する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83BD1-8F6C-4579-8F44-A212D33A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764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「到達」から「接触・復旧・改善」へ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B0F9A-73C3-4550-87C2-D6D3D46D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2194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強化学習 × Cosmos 3 × Toyota 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4EC3-9D29-403E-8662-D7B6A48C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752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8BCC3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0">
                <a:solidFill>
                  <a:srgbClr val="B8BCC3"/>
                </a:solidFill>
                <a:latin typeface="Noto Sans CJK JP"/>
                <a:ea typeface="Noto Sans CJK JP"/>
                <a:cs typeface="Noto Sans CJK JP"/>
              </a:rPr>
              <a:t>半年技術立案案｜2026.08.21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0E546-8FE6-44F3-A47B-CE62C2D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2768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自動化困難作業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F2718-3568-4E4B-AC9D-18F9B29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5276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86FB6-4969-4E4E-B5EC-F78CA615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52768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精密接触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CC8AA-C9A8-489B-BAC4-A8EF3FF3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5276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232EC-21B3-49A3-9DBD-E97ED832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52768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安全判断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6638F-3F84-4827-BEB8-440037B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5276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8AEA1-909D-4287-9E06-3B62CA10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5276850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自律改善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39504-58DB-4111-8C82-73667AE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E7C5D-E63B-44B8-9423-0B325E0E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B3D4D-6229-4D05-BE42-C789E541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C9CCD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13" b="1">
                <a:solidFill>
                  <a:srgbClr val="C9CCD1"/>
                </a:solidFill>
                <a:latin typeface="Noto Sans CJK JP"/>
                <a:ea typeface="Noto Sans CJK JP"/>
                <a:cs typeface="Noto Sans CJK JP"/>
              </a:rPr>
              <a:t>強化学習：精密にやり切る。世界モデル：動作後の未来を読む。工程条件・PLC：止める。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73768-6ECE-475F-A644-908BEE4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63246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</a:t>
            </a:r>
          </a:p>
        </p:txBody>
      </p:sp>
    </p:spTree>
    <p:extLst>
      <p:ext uri="{BB962C8B-B14F-4D97-AF65-F5344CB8AC3E}">
        <p14:creationId xmlns:p14="http://schemas.microsoft.com/office/powerpoint/2010/main" val="32153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D34D63-229D-4E8C-A658-342A1D89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01 / 対象作業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1BF64-7DA0-4C91-9584-1941AFD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1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目標：最後の5～20 cmを自律完遂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3814F-AB4C-407E-9B26-CD18386B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847B2-A149-4458-A1AD-62655129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902CF-6F1B-4977-8202-49CD5555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581150"/>
            <a:ext cx="10287000" cy="304800"/>
          </a:xfrm>
          <a:prstGeom xmlns:a="http://schemas.openxmlformats.org/drawingml/2006/main" prst="roundRect">
            <a:avLst>
              <a:gd name="adj" fmla="val 122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経路計画で「近く」までは行ける。難作業は、接触が見えない最後に残る。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921FB-6390-4A31-A1B7-118D1DB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22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C7A98-53B4-47C4-AE9B-7301F362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09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D8C0C-F7E3-4A49-8A89-9D12E0D2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324100"/>
            <a:ext cx="22860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対象認識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RGB-D・6D姿勢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cuMotion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B8EAC-69D9-40FA-96A4-63EDAB22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724150"/>
            <a:ext cx="400050" cy="3429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638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EC07F-0773-4ABE-8193-C42E8F9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190750"/>
            <a:ext cx="238125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6193">
            <a:solidFill>
              <a:srgbClr val="C66A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最後の5～20 cm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接近・予備位置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36AA4-CD1D-4203-A496-D80883B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724150"/>
            <a:ext cx="400050" cy="3429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34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C6D05-583B-4C44-8622-B1764A55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038350"/>
            <a:ext cx="2514600" cy="17716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最後の5～20 mm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不可視の接触領域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CF96C-18CB-4E40-B73F-845AA8D1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724150"/>
            <a:ext cx="400050" cy="3429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34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430EE-D27F-4F67-9F53-8C2C33A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324100"/>
            <a:ext cx="2171700" cy="12001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5240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63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63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組付けOK</a:t>
            </a:r>
          </a:p>
          <a:p xmlns:a="http://schemas.openxmlformats.org/drawingml/2006/main">
            <a:pPr algn="ctr">
              <a:buNone/>
              <a:defRPr sz="1463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63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安全退避・再試行</a:t>
            </a:r>
          </a:p>
        </p:txBody>
      </p:sp>
      <p:cxnSp>
        <p:nvCxnSpPr>
          <p:cNvPr id="52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52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rot="0" flipH="0" flipV="1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52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25066-C850-4CAF-B93C-86D069C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676650"/>
            <a:ext cx="2209800" cy="1905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21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可視・幾何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1E648-8944-47C8-B82D-B9CFC8A4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3790950"/>
            <a:ext cx="5219700" cy="20955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65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ここから不確かさが増える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4E820-F799-4F3F-BA99-D5789446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276600"/>
            <a:ext cx="2286000" cy="32385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78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8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挿入・回転・嵌合・摩擦・荷重・かじり</a:t>
            </a:r>
          </a:p>
        </p:txBody>
      </p:sp>
      <p:cxnSp>
        <p:nvCxnSpPr>
          <p:cNvPr id="527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528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rot="0" flipH="1" flipV="1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529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rot="0" flipH="1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8261A-26B8-4B9B-B482-B6113A0C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3D52D-9474-41EE-8946-150EA9A4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86C32-5584-45DD-B991-F2C71081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cxnSp>
        <p:nvCxnSpPr>
          <p:cNvPr id="533" name=""/>
          <p:cNvCxnSpPr>
            <a:stCxn xmlns:a="http://schemas.openxmlformats.org/drawingml/2006/main" id="2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rot="0" flipH="1" flipV="1">
            <a:off x="4763" y="0"/>
            <a:ext cx="7539038" cy="36004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534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rot="0" flipH="1" flipV="0">
            <a:off x="0" y="4763"/>
            <a:ext cx="95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53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rot="0" flipH="1" flipV="0">
            <a:off x="0" y="4763"/>
            <a:ext cx="95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C7566D-981F-4669-8D7A-5190CDE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1DA98-CAF8-4BAB-946B-F0DB1630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BD8334-E66C-45DE-A535-2FE3BCEE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8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1D58B-494C-4AF1-8951-5437D3BF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2100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41DBF-CEF0-466F-946D-007FFD03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257800"/>
            <a:ext cx="361950" cy="38100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26BA4D-0AEA-4A5D-B7FF-7DFEC723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3911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難しさ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5ABB9D-116C-4953-A124-676F823E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6007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位置が合う ≠ 組付け完了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EAA811-0B14-429A-AFFA-B910773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4835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同じ姿勢でも、挿入・かじり・過荷重・損傷に分かれる。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ED7518-1C4C-4125-A04E-F8C04EA8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257800"/>
            <a:ext cx="36195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5"/>
          </a:solidFill>
          <a:ln xmlns:a="http://schemas.openxmlformats.org/drawingml/2006/main" w="0">
            <a:solidFill>
              <a:srgbClr val="087F7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3D2003-10F7-4C92-A838-E42C5C35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39115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合格条件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B0E041-C12D-410D-BB56-5EBCCE2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600700"/>
            <a:ext cx="318135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63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入る・壊さない・戻れる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2A5068-A9C7-4059-A063-681AD24F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584835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成功率・最大荷重・復旧率・同一異常の再発を評価。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B4DBD9-36B1-4061-8F56-AE21057C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5257800"/>
            <a:ext cx="36195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D1F95C-22D8-4AEE-B5FF-5D0C15CF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53911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最初の実証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5F9A46-1C9C-468A-83DE-FF445B6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5600700"/>
            <a:ext cx="348615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63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NVIDIA歯車組付けを再現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0FF984-A66F-40F6-8C1B-3920644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584835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実機UR10eで接触を伴う実機移行を実証。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E9A83A-DDA1-458C-AF9F-3731DA71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FF95BE-5BC2-4EC5-A71A-AEABF0CB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EAFDE6-3413-4D9D-987B-32D19ECE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D85481-F1B3-4409-97C3-4C8B7D56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CB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C8CBD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578F98-8CD6-4F2E-8D77-33B1EE03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85585C-0E88-4299-B069-CCF3262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83909C-DC29-4D1A-B506-36D7488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051DF9-8199-4A5E-813B-CE2384A4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社内技術立案案｜対象：歯車組付け、配線コネクタ、嵌合・かしめ・クリップ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512619-987C-44D7-BC94-9E7D8E7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2 / 11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9748EFF-1AA5-4E89-A377-25C5E3C1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3A471B-2A46-41ED-B402-60011598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924CB37-7B69-43DC-81FA-648E3D95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EB31602-A5E5-4FBB-A7B7-8C7170BE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AE226E7-0686-4502-B07D-9BDD106F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817D433-2D61-4951-9241-189B0CE3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06BAA3F-9D65-4BAD-ACAB-47EF82C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EB197EB-6D3A-477E-A5FB-FD8CC025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542A734-442E-4CE3-B532-3BAB7E30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CFEC64F-5B3E-4779-8FF9-F64252F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4513591-C060-4DBE-A65C-59243341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2D4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D2D4D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36094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29DFBD-E567-4D60-927B-3C0C719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02 / 公開実証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F2240-A4E6-4287-B73C-8C80A7C7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NVIDIA UR10e歯車組付け｜接触挿入を実機で完遂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432D7-4926-40C5-8FEB-5FFC61E2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495F1-6770-45DD-B5B7-EA45746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9601-D564-49AB-AF43-CA02D5F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5621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把持 → 搬送 → 挿入。公開手順で実機UR10eまで接続。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DDDCF-7413-410C-A550-4942FDC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7244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NVIDIA公式 Figure 2｜把持・搬送・挿入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77999-D081-4DC6-81AD-BCA3B3D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EA0A-BF64-4219-BF8E-CF2F0C1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029200"/>
            <a:ext cx="1809750" cy="5715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3335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認識</a:t>
            </a:r>
          </a:p>
          <a:p xmlns:a="http://schemas.openxmlformats.org/drawingml/2006/main">
            <a:pPr algn="ctr">
              <a:buNone/>
              <a:def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軸姿勢推定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E6E30-7197-4C31-8011-CF57375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143500"/>
            <a:ext cx="304800" cy="3238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97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cxnSp>
        <p:nvCxnSpPr>
          <p:cNvPr id="38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0" flipH="0" flipV="1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C7349-3F6F-43D8-97E2-CA640F4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746F2-B0B0-448A-8305-0DF7142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CA1F8-E01B-4B04-A1C1-CEF31D6D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C18A6-A9C3-4986-A509-BFAD49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5029200"/>
            <a:ext cx="1809750" cy="5715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3335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cuMotion</a:t>
            </a:r>
          </a:p>
          <a:p xmlns:a="http://schemas.openxmlformats.org/drawingml/2006/main">
            <a:pPr algn="ctr">
              <a:buNone/>
              <a:def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搬送・待機位置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6373-7242-417E-ABDA-65C36C7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029200"/>
            <a:ext cx="1809750" cy="5715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1333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強化学習方策</a:t>
            </a:r>
          </a:p>
          <a:p xmlns:a="http://schemas.openxmlformats.org/drawingml/2006/main">
            <a:pPr algn="ctr">
              <a:buNone/>
              <a:def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接触挿入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E0E9C-5792-4AA3-A31B-1C6252B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5029200"/>
            <a:ext cx="1809750" cy="5715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3335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802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500 Hz</a:t>
            </a:r>
          </a:p>
          <a:p xmlns:a="http://schemas.openxmlformats.org/drawingml/2006/main">
            <a:pPr algn="ctr">
              <a:buNone/>
              <a:defRPr sz="1238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インピーダンス・トルク制御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A9F7-6D4A-4735-8B1F-0A8FA9F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5029200"/>
            <a:ext cx="1809750" cy="5715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13335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実機UR10e</a:t>
            </a:r>
          </a:p>
          <a:p xmlns:a="http://schemas.openxmlformats.org/drawingml/2006/main">
            <a:pPr algn="ctr">
              <a:buNone/>
              <a:def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歯車組付け完了</a:t>
            </a:r>
          </a:p>
        </p:txBody>
      </p:sp>
      <p:cxnSp>
        <p:nvCxnSpPr>
          <p:cNvPr id="39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rot="0" flipH="0" flipV="0">
            <a:off x="9525" y="4763"/>
            <a:ext cx="2886075" cy="5310188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rot="0" flipH="0" flipV="0">
            <a:off x="6877050" y="5143500"/>
            <a:ext cx="3048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rot="0" flipH="0" flipV="0">
            <a:off x="9029700" y="5143500"/>
            <a:ext cx="3048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D1F76-0F85-4455-BF87-3862FDD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F2A4A-44FF-4572-9928-C9ABFFA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0B846-3C3D-4AF7-98C9-888407D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E57C6-15AC-4F55-B76C-F694C43A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AEC37-E212-4EA1-831E-CC3BD17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19614-FF20-4215-840E-51F3230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98BA2-8E69-45EA-AEB8-00AAE75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54A4D-EEBB-4AB4-B1A9-A6A80044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9259F-CE4F-4DBC-9DE1-43B5786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29625-01D8-435F-AC12-EC08548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59D63-93BD-49D5-B2A6-D31A15D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4087C-16E8-46FA-92D5-0281A4A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62D24-AAA7-4AE9-A106-F116F31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7A217-D8CA-4619-8CDF-928E520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4B53B-3C55-4E2B-8AA8-1588C0E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F9245-D563-4EF1-B744-2A581F1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9D68B4-C850-4AB5-996B-95B5030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16DDA-0592-4703-88D8-C0DD49A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829300"/>
            <a:ext cx="857250" cy="209550"/>
          </a:xfrm>
          <a:prstGeom xmlns:a="http://schemas.openxmlformats.org/drawingml/2006/main" prst="roundRect">
            <a:avLst>
              <a:gd name="adj" fmla="val 10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13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公開結果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DB15F-FF73-4AF0-B8B6-0E076FF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5734050"/>
            <a:ext cx="977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13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NVIDIAは零ショットのシミュレーション実機移行と説明。3サイズに対応。学習方策は実機で動作。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76437-6BCC-4AAE-AC6E-E6C9CC7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CB1BD-0714-4678-8268-4AD145F2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83012-24DE-46C1-8D0B-46268A0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F95559-E0A2-4809-BAA9-9AA75DA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90F91A-D40E-448B-8B84-027A071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78481D-2331-499F-AA9C-298A6F3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001C69-2D3F-4135-9B14-08E2DE6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C431B4-2E7B-43FB-A968-945159F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D9904-54F1-477A-8A8D-1EEF058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BF65FD-55E3-499C-8ADE-F4E9BE4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CA7973-FA39-49BB-BE26-085B0DB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CAB2F3-F188-40CD-8C44-1CFA80E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AA51F1-2066-4AF3-A133-716A291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社内技術立案案｜公開成果を当社成果とは表現しない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B0E51F-83E1-4CEB-95C5-08D3718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3 / 11</a:t>
            </a:r>
          </a:p>
        </p:txBody>
      </p:sp>
      <p:pic>
        <p:nvPicPr>
          <p:cNvPr id="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d998c5ae84a8e"/>
          <a:stretch xmlns:a="http://schemas.openxmlformats.org/drawingml/2006/main"/>
        </p:blipFill>
        <p:spPr>
          <a:xfrm xmlns:a="http://schemas.openxmlformats.org/drawingml/2006/main">
            <a:off x="1141710" y="1809750"/>
            <a:ext cx="9870480" cy="295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67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29DFBD-E567-4D60-927B-3C0C719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02A / 実機映像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F2240-A4E6-4287-B73C-8C80A7C7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実機動画｜強化学習によるUR10e歯車組付け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432D7-4926-40C5-8FEB-5FFC61E2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495F1-6770-45DD-B5B7-EA45746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9601-D564-49AB-AF43-CA02D5F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5621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シミュレーションだけではない。実機UR10eの公式映像。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DDDCF-7413-410C-A550-4942FDC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59245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クリックでブラウザを開く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77999-D081-4DC6-81AD-BCA3B3D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5295900"/>
            <a:ext cx="3105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▶ </a:t>
            </a: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  <a:hlinkClick xmlns:r="http://schemas.openxmlformats.org/officeDocument/2006/relationships" r:id="R2be65607c9134552"/>
              </a:rPr>
              <a:t>NVIDIA公式動画を開く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EA0A-BF64-4219-BF8E-CF2F0C1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2038350"/>
            <a:ext cx="3105150" cy="895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30 Hz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方策：目標関節位置を出力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E6E30-7197-4C31-8011-CF57375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cxnSp>
        <p:nvCxnSpPr>
          <p:cNvPr id="38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0" flipH="1" flipV="1">
            <a:off x="0" y="4763"/>
            <a:ext cx="11410950" cy="2481263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C7349-3F6F-43D8-97E2-CA640F4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746F2-B0B0-448A-8305-0DF7142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CA1F8-E01B-4B04-A1C1-CEF31D6D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C18A6-A9C3-4986-A509-BFAD49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124200"/>
            <a:ext cx="3105150" cy="895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5240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500 Hz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下位インピーダンス制御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6373-7242-417E-ABDA-65C36C7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210050"/>
            <a:ext cx="3105150" cy="895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実機UR10e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歯車位置のばらつきに対応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E0E9C-5792-4AA3-A31B-1C6252B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A9F7-6D4A-4735-8B1F-0A8FA9F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cxnSp>
        <p:nvCxnSpPr>
          <p:cNvPr id="39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rot="0" flipH="0" flipV="0">
            <a:off x="9525" y="4763"/>
            <a:ext cx="8296275" cy="3567113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rot="0" flipH="1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rot="0" flipH="1" flipV="1">
            <a:off x="0" y="4763"/>
            <a:ext cx="11410950" cy="4652963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0" flipH="1" flipV="0">
            <a:off x="0" y="4763"/>
            <a:ext cx="95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D1F76-0F85-4455-BF87-3862FDD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F2A4A-44FF-4572-9928-C9ABFFA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0B846-3C3D-4AF7-98C9-888407D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E57C6-15AC-4F55-B76C-F694C43A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AEC37-E212-4EA1-831E-CC3BD17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19614-FF20-4215-840E-51F3230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98BA2-8E69-45EA-AEB8-00AAE75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54A4D-EEBB-4AB4-B1A9-A6A80044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9259F-CE4F-4DBC-9DE1-43B5786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29625-01D8-435F-AC12-EC08548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59D63-93BD-49D5-B2A6-D31A15D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4087C-16E8-46FA-92D5-0281A4A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62D24-AAA7-4AE9-A106-F116F31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7A217-D8CA-4619-8CDF-928E520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4B53B-3C55-4E2B-8AA8-1588C0E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F9245-D563-4EF1-B744-2A581F1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9D68B4-C850-4AB5-996B-95B5030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16DDA-0592-4703-88D8-C0DD49A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6096000"/>
            <a:ext cx="762000" cy="228600"/>
          </a:xfrm>
          <a:prstGeom xmlns:a="http://schemas.openxmlformats.org/drawingml/2006/main" prst="roundRect">
            <a:avLst>
              <a:gd name="adj" fmla="val 10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確認点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DB15F-FF73-4AF0-B8B6-0E076FF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60388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把持・搬送・挿入。3個の歯車組付けを確認。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76437-6BCC-4AAE-AC6E-E6C9CC7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CB1BD-0714-4678-8268-4AD145F2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83012-24DE-46C1-8D0B-46268A0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F95559-E0A2-4809-BAA9-9AA75DA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90F91A-D40E-448B-8B84-027A071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78481D-2331-499F-AA9C-298A6F3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001C69-2D3F-4135-9B14-08E2DE6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C431B4-2E7B-43FB-A968-945159F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D9904-54F1-477A-8A8D-1EEF058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BF65FD-55E3-499C-8ADE-F4E9BE4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CA7973-FA39-49BB-BE26-085B0DB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CAB2F3-F188-40CD-8C44-1CFA80E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AA51F1-2066-4AF3-A133-716A291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社内技術立案案｜画像とリンクはNVIDIA公式公開動画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B0E51F-83E1-4CEB-95C5-08D3718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4 / 11</a:t>
            </a:r>
          </a:p>
        </p:txBody>
      </p:sp>
      <p:pic>
        <p:nvPicPr>
          <p:cNvPr id="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f177e70624ede"/>
          <a:stretch xmlns:a="http://schemas.openxmlformats.org/drawingml/2006/main"/>
        </p:blipFill>
        <p:spPr>
          <a:xfrm xmlns:a="http://schemas.openxmlformats.org/drawingml/2006/main">
            <a:off x="723900" y="1926431"/>
            <a:ext cx="7239000" cy="40719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67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297D78-B9D2-4DF9-9611-AB35C26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03 / 現在地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31436-084A-401C-BBC7-E352028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既存基盤で80%。残る20%は接触閉ループ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C5E7E-6444-45A3-88A2-C910267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A0269-10CA-4495-93C4-761948C2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D5700-DF27-4C71-AEB1-861B33B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581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63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63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「見る・判断・動く」は実装済み。残るのは「接触・復旧・学習」。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B6CA3-3C9C-4F55-9C0A-2884862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B1D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B1D21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39B11-4F5E-4B81-A8F5-19B08089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857500"/>
            <a:ext cx="1714500" cy="8763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見る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RGB-D → 6D姿勢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39631-9B7C-4ABC-A96C-3F90427E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857500"/>
            <a:ext cx="1714500" cy="8763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判断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世界状態 → 作業指示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0D5D5-4604-464E-AF71-CEA59279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857500"/>
            <a:ext cx="1714500" cy="8763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動く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cuMotion → 待機位置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47265-25C1-4F6F-8034-58AC3FF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857500"/>
            <a:ext cx="1428750" cy="8763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15240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接触する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F/T + 強化学習</a:t>
            </a:r>
          </a:p>
        </p:txBody>
      </p:sp>
      <p:cxnSp>
        <p:nvCxnSpPr>
          <p:cNvPr id="46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6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6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B27B4-25AF-4BD5-97D9-165A84AE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886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位置決め・状態・手順・干渉回避・把持・UR制御を流用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EC0E0-2529-41B2-BD7E-A043B85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38862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力覚・かじり判定・保護退避・復旧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2EA1E-764D-4722-8748-D9646DE1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857500"/>
            <a:ext cx="1619250" cy="87630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15240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復旧・学習</a:t>
            </a:r>
          </a:p>
          <a:p xmlns:a="http://schemas.openxmlformats.org/drawingml/2006/main">
            <a:pPr algn="ctr">
              <a:buNone/>
              <a:def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退避 → 再試行 → 作業履歴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E6DAB-E4FA-4AB7-A9AE-1D756B38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5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26DD2-8650-4E36-A914-A833B1D8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762500"/>
            <a:ext cx="10782300" cy="9525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B1D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B1D21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DF735-9F46-4D25-B924-4C236C06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048250"/>
            <a:ext cx="1466850" cy="45720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952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立上げ範囲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0D621-883B-4741-A27F-81AE791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4972050"/>
            <a:ext cx="8572500" cy="323850"/>
          </a:xfrm>
          <a:prstGeom xmlns:a="http://schemas.openxmlformats.org/drawingml/2006/main" prst="roundRect">
            <a:avLst>
              <a:gd name="adj" fmla="val 225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既存基盤は維持。待機位置の後段に接触技能を追加。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6324B-8561-4005-8767-830E46F7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5314950"/>
            <a:ext cx="8763000" cy="400050"/>
          </a:xfrm>
          <a:prstGeom xmlns:a="http://schemas.openxmlformats.org/drawingml/2006/main" prst="roundRect">
            <a:avLst>
              <a:gd name="adj" fmla="val 225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38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初期合格：既存認識・cuMotionで待機位置へ。強化学習で挿入。かじれば退避。作業履歴を保存。</a:t>
            </a:r>
          </a:p>
        </p:txBody>
      </p:sp>
      <p:cxnSp>
        <p:nvCxnSpPr>
          <p:cNvPr id="47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0" flipH="1" flipV="1">
            <a:off x="0" y="4763"/>
            <a:ext cx="11315700" cy="3290888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7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rot="0" flipH="0" flipV="0">
            <a:off x="9525" y="4763"/>
            <a:ext cx="714375" cy="476250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8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rot="0" flipH="1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81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rot="0" flipH="0" flipV="1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8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rot="0" flipH="1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83" name=""/>
          <p:cNvCxnSpPr>
            <a:stCxn xmlns:a="http://schemas.openxmlformats.org/drawingml/2006/main" id="21" idx="2"/>
            <a:endCxn xmlns:a="http://schemas.openxmlformats.org/drawingml/2006/main" id="17" idx="2"/>
          </p:cNvCxnSpPr>
          <p:nvPr/>
        </p:nvCxnSpPr>
        <p:spPr>
          <a:xfrm xmlns:a="http://schemas.openxmlformats.org/drawingml/2006/main" rot="0" flipH="1" flipV="1">
            <a:off x="4763" y="9525"/>
            <a:ext cx="6757988" cy="570547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8576B4-39A4-4C87-8E25-D2ECD428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86450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まず「最後までできない」を解消。安全予測は別系統で検証。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05806-E499-46F2-81B5-1C77E867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095500"/>
            <a:ext cx="6858000" cy="2400300"/>
          </a:xfrm>
          <a:prstGeom xmlns:a="http://schemas.openxmlformats.org/drawingml/2006/main" prst="roundRect">
            <a:avLst>
              <a:gd name="adj" fmla="val 5208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B6CB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93D7E-ECAE-4635-B24C-DB51F83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228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既存80%｜視覚マニピュレーション／UR実行基盤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89BEF-7727-445D-A6E9-101DF16B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EEF6D-4248-4BB4-9487-BD56AFB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C14632-6D9B-4008-AD42-E183E4E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095500"/>
            <a:ext cx="37719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D10F5-1C73-40F7-B5DD-DA49467B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228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不足20%｜接触閉ループ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DB53B9-E8D9-4C9E-8C03-18E5BF7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CEAD99-BFB5-413D-BB46-250D5DFB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8F60E-995A-4DB4-9E09-9AE1554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76A3B2-5988-424A-91F5-C906139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AAE0E7-8B83-4E63-A340-070A78DE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64682F-C2A0-47C8-962A-DA564A6B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25108A-FF67-46DA-96BF-9F551E35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51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453A0B-B4A2-461C-9479-605116EA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C7F996-A11F-4653-918C-6546A80C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2215C9-6E51-40A4-AEBC-CC3AAFA6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377294-7463-402F-A296-65B87E4B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社内技術立案案｜既存基盤を生かし、最後の接触閉ループだけを追加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F699F0-8BC4-4449-A5C2-CF920553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5 / 11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F3BD70B-4714-4E66-AE2B-E0CF41E6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105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529F7A1-CCB1-444C-BD11-2E40B808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3105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3083BFA-AC0B-4C84-B677-9E48F4A2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705100"/>
            <a:ext cx="361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553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43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4BC14CB-4581-4FC2-844C-24C8C31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105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28F2AE-DFE6-4A01-8C00-728DFE55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1051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457188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29DFBD-E567-4D60-927B-3C0C719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04 / 強化学習の実装性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F2240-A4E6-4287-B73C-8C80A7C7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0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公開数字と3つのGateで実装可否を判断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432D7-4926-40C5-8FEB-5FFC61E2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334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公式基準系を再現し、トヨタ治具へ段階置換する。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495F1-6770-45DD-B5B7-EA45746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9601-D564-49AB-AF43-CA02D5F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DDDCF-7413-410C-A550-4942FDC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19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NVIDIA公式値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77999-D081-4DC6-81AD-BCA3B3D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EA0A-BF64-4219-BF8E-CF2F0C1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885950"/>
            <a:ext cx="2457450" cy="990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6193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3サイズ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1つの方策で一般化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E6E30-7197-4C31-8011-CF57375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3848100"/>
            <a:ext cx="304800" cy="3619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43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cxnSp>
        <p:nvCxnSpPr>
          <p:cNvPr id="37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C7349-3F6F-43D8-97E2-CA640F4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105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社内PoC Gate（提案値）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746F2-B0B0-448A-8305-0DF7142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CA1F8-E01B-4B04-A1C1-CEF31D6D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1885950"/>
            <a:ext cx="2457450" cy="990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6193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256環境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並列学習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C18A6-A9C3-4986-A509-BFAD49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1885950"/>
            <a:ext cx="2457450" cy="990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6193">
            <a:solidFill>
              <a:srgbClr val="C66A0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12–24時間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標準学習時間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6373-7242-417E-ABDA-65C36C7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1885950"/>
            <a:ext cx="2457450" cy="990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CE8EB"/>
          </a:solidFill>
          <a:ln xmlns:a="http://schemas.openxmlformats.org/drawingml/2006/main" w="16193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30 Hz / 500 Hz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方策 / 下位制御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E0E9C-5792-4AA3-A31B-1C6252B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390900"/>
            <a:ext cx="3276600" cy="13525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7145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G1｜公式基準系　W1–W4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Sim完走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学習を再現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A9F7-6D4A-4735-8B1F-0A8FA9F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cxnSp>
        <p:nvCxnSpPr>
          <p:cNvPr id="38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rot="0" flipH="0" flipV="0">
            <a:off x="7600950" y="3848100"/>
            <a:ext cx="30480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8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8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rot="0" flipH="1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0" flipH="1" flipV="1">
            <a:off x="0" y="4763"/>
            <a:ext cx="4019550" cy="4062413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D1F76-0F85-4455-BF87-3862FDD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F2A4A-44FF-4572-9928-C9ABFFA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0B846-3C3D-4AF7-98C9-888407D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E57C6-15AC-4F55-B76C-F694C43A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AEC37-E212-4EA1-831E-CC3BD17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19614-FF20-4215-840E-51F3230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98BA2-8E69-45EA-AEB8-00AAE75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54A4D-EEBB-4AB4-B1A9-A6A80044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9259F-CE4F-4DBC-9DE1-43B5786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29625-01D8-435F-AC12-EC08548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59D63-93BD-49D5-B2A6-D31A15D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4087C-16E8-46FA-92D5-0281A4A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62D24-AAA7-4AE9-A106-F116F31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7A217-D8CA-4619-8CDF-928E520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4B53B-3C55-4E2B-8AA8-1588C0E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F9245-D563-4EF1-B744-2A581F1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9D68B4-C850-4AB5-996B-95B5030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16DDA-0592-4703-88D8-C0DD49A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390900"/>
            <a:ext cx="3276600" cy="13525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7145">
            <a:solidFill>
              <a:srgbClr val="C66A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G2｜トヨタ置換　W5–W10</a:t>
            </a:r>
          </a:p>
          <a:p xmlns:a="http://schemas.openxmlformats.org/drawingml/2006/main">
            <a:pPr algn="ctr"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位姿 P95 &lt; 10 mm</a:t>
            </a:r>
          </a:p>
          <a:p xmlns:a="http://schemas.openxmlformats.org/drawingml/2006/main">
            <a:pPr algn="ctr"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待機位置 ≥ 95%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DB15F-FF73-4AF0-B8B6-0E076FF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390900"/>
            <a:ext cx="327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2"/>
          </a:solidFill>
          <a:ln xmlns:a="http://schemas.openxmlformats.org/drawingml/2006/main" w="17145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G3｜実機反復　W11–W14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各サイズ ≥ 100回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挿入 ≥ 90%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安全停止 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76437-6BCC-4AAE-AC6E-E6C9CC7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010150"/>
            <a:ext cx="1352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公開継承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CB1BD-0714-4678-8268-4AD145F2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5010150"/>
            <a:ext cx="3733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環境・方策・UR10e展開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学習済みモデル・OBJ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83012-24DE-46C1-8D0B-46268A0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F95559-E0A2-4809-BAA9-9AA75DA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5010150"/>
            <a:ext cx="1352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A1E"/>
          </a:solidFill>
          <a:ln xmlns:a="http://schemas.openxmlformats.org/drawingml/2006/main" w="952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自社実装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90F91A-D40E-448B-8B84-027A071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5010150"/>
            <a:ext cx="3714750" cy="70485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CE8EB"/>
          </a:solidFill>
          <a:ln xmlns:a="http://schemas.openxmlformats.org/drawingml/2006/main" w="952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治具・公差・安全回路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実機応答の同定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78481D-2331-499F-AA9C-298A6F3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905500"/>
            <a:ext cx="10668000" cy="3429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「着手できる」は公開済み。量産実装はGateの実測値で決める。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001C69-2D3F-4135-9B14-08E2DE6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C431B4-2E7B-43FB-A968-945159F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D9904-54F1-477A-8A8D-1EEF058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BF65FD-55E3-499C-8ADE-F4E9BE4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CA7973-FA39-49BB-BE26-085B0DB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CAB2F3-F188-40CD-8C44-1CFA80E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AA51F1-2066-4AF3-A133-716A291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社内技術立案案｜上段はNVIDIA公式値。下段は社内PoCの提案Gate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B0E51F-83E1-4CEB-95C5-08D3718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561367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4F0796-32FB-4C2B-9D5E-490C171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05 / 安全判断の不足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6FE6C-F336-49F8-9882-9B23CA11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8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Isaacで学べても、「この1回の安全」は証明できない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89D30-A830-4EC4-9B94-5FBCEBF7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334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シミュレーションは訓練場。実機には未同定の接触差分が残る。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87B25-10B8-49B5-80DC-1C9ADE8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AAB24-3543-4A5F-AF6D-42BA84E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2C70-BC38-405B-8493-AA45F0F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676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訓練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0399A-5945-41AB-995F-89E7E074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962150"/>
            <a:ext cx="2800350" cy="17526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7145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Isaac Sim / Lab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形状・名目物性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領域ランダム化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接触反復 4 → 196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3B979-97C1-4D03-9322-5891DBF4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4C6AD-9AC6-4819-AFC8-6E7204C4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15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63F9E-2BD9-4702-B952-A01F5FA8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28066-61E4-44BC-97DE-766D002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15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AD159-F4D6-41D3-A4BA-F50B42F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4E122-6B17-4D2F-BD44-D86BD24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15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F54C1-8E3D-4B0D-84C9-E6502AFF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D3CEE-78C5-4B85-A2D7-DA4CAD2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590800"/>
            <a:ext cx="514350" cy="4191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52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64FAF-3B98-45D2-B4AC-A9F66D98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1676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残差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F0E33-49CB-4A1A-89A3-C73FBF0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B2939-9C09-434F-8473-94A29749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82186-675A-487A-B8DD-4D1CEC96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A41BD-542B-4B98-BA02-BFF9AC0E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5486D-FED5-4C5E-8FB2-DBD71EE1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1962150"/>
            <a:ext cx="3295650" cy="1752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7145">
            <a:solidFill>
              <a:srgbClr val="C66A0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Sim-to-Real差分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摩擦・潤滑・摩耗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公差・剛性・バックラッシ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標定・深度・制御遅れ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7B642-EE98-4C3C-AC3B-8F14C02E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32575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約10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FA28B-3E91-451C-88BF-6E53B95A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ACC76-36E9-40E2-B3FB-5B772947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4682D-CF52-450D-8220-D03A35D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2BAB9-BF99-49A4-B301-633F3A27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52749-0DA9-4AD1-A0C0-7AD04E7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9D64B-BD06-466A-823B-49448A47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2ECD6-DE56-404C-88E4-D44B076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5482C5-7353-4295-AC64-5E3D95A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FF226-01E1-4234-AD7E-17E9C54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0397F-2CD6-44AC-B249-C25388A9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ACFA5A-A51B-4554-BD7E-D7D0A4D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590800"/>
            <a:ext cx="514350" cy="4191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52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B4051F-BA4F-441B-9749-E1582660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1676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実機結果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5FDE3-FFF9-467D-ADF2-D3006DD4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FBD8D1-B36A-4F8B-B09B-C5CE3B11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02BAD-8D85-468D-8E25-9679C05A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0377C2-0AAD-4395-AF9E-5883D550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E049C7-90B7-466A-B488-27224B2A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1962150"/>
            <a:ext cx="3276600" cy="1752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同じ動作でも分岐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OK　｜　かじり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過荷重　｜　損傷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F942FA-EB9C-4439-8EFE-A494F7C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829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DRは差分を広げる。だが「今日の個体」は特定しない。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78C0D6-DD6E-4A85-A134-93E9238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248150"/>
            <a:ext cx="4000500" cy="2286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だから、実行前に第二の証拠系を追加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E2081F-FA34-474A-8695-544A11DB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2CDE71-B8A3-44D5-A4CC-EE588F3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7922E4-58DD-4625-96CD-1D8DD48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C5D7FD-FFC3-49E6-A16C-2F7EB4C9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33ED11-AC00-43D5-B9F3-347C9F20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9F247B-B145-41C7-85C4-44EF4D3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EB3BA9-A525-46A8-8569-5E0F0D3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ACFE77-0432-4FD6-85FF-9F0A8B75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2F75F5-EFC5-4CEF-9FC8-B0D3B8E8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C08AE0-091E-43CA-B42C-52F5E06D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52B35-032B-4AAD-A873-785FB754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C1CCC3-21FD-45E8-99D0-D9AD0239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D8AF02-322E-423B-8A41-10FE321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A0B3F7-A8CE-4268-981A-4F5A7DD3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3D6BAB-5756-43FB-895A-7CCD8CD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17F2B2-F2D6-4461-B676-EA5E26DF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A65D81-6B59-4BA3-9926-ADADA6B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94A203-B39F-440A-8365-4D95593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591050"/>
            <a:ext cx="3009900" cy="876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17145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Cosmos 3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候補動作 → 予測未来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836B64-7E4F-41F2-B24A-14F421C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4819650"/>
            <a:ext cx="419100" cy="3810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99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32BEFD-D034-4EBA-911B-B0394E2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4591050"/>
            <a:ext cx="3067050" cy="876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E8EB"/>
          </a:solidFill>
          <a:ln xmlns:a="http://schemas.openxmlformats.org/drawingml/2006/main" w="1714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トヨタ判定層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工程・品質・復旧可否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F825C9-ADEA-4557-B1E4-850C155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819650"/>
            <a:ext cx="419100" cy="3810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99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9D9FAC-90D5-4B3A-B66A-2AE68F52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4591050"/>
            <a:ext cx="3448050" cy="876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7145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独立安全系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PLC・アンドン・荷重上限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4D5867-302E-4381-99DD-EDC6425B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772150"/>
            <a:ext cx="10668000" cy="4000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世界モデルは安全保証ではない。実センサと独立安全系を置き換えない。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964971-683C-47B0-9362-7991667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459035-0D1D-449E-B211-5579E01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280357-113C-4CD0-99BD-299E8555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F98943-A134-43FC-B7C6-E65E7AA4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D01E4A-6941-4421-996B-936C3E4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358527-EB1A-4E82-9262-8CC51142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8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9A7626-7E67-46DB-8C5A-1787A541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C9769B-8435-4869-BB03-9ACC9485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6AF511-CD93-4674-B3EB-05DB986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7B4364-37DD-4CB4-98B0-47B38395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15B1BF-6914-4C90-94C9-50A7D5E5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2D5894-D09B-49BA-BD44-AB91B6BF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837085-6A60-46F7-BF4A-38C79A7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56A2A86-3F22-49C8-82D8-7839F192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F65DEA-F60B-46E4-BFCF-4C2DB913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250ECA-AC26-4609-A840-15E35A2C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3" b="1">
                <a:solidFill>
                  <a:srgbClr val="C66A0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7CFBC1-4AD5-4438-875E-EA1FA74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393748-E495-42EB-96E1-954E6D85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63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A9AE35-21E5-437D-92DF-33204AB0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CFD3FA-84FA-416C-8944-FCB847A9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1B45264-94ED-4C42-8E4F-96DFE31B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48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0B6C82-E6FF-4629-84A3-A8469B2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FC7285-394C-4CBC-A74D-219F2360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01419A-6390-4F83-8A04-5F548E4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A560B7-50AD-4903-8717-25E9C44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0759D1-6D41-4A1F-9A1D-929175C4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760F0B-3454-49F3-9282-61239FBE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996047F-53CB-43BF-BFC9-683AC403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28D40B2-1B6B-4B19-83F9-836BFD85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F2B20F7-60C4-487B-95B4-030D55AB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社内技術立案案｜世界モデルは第二の証拠系。独立安全系は置き換えない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EBFE899-A1B5-47BE-BAB4-F285F7B6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721321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297D78-B9D2-4DF9-9611-AB35C26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06 / COSMOS 3 検証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31436-084A-401C-BBC7-E352028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Cosmos 3は「動作を与え、未来を予測」する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C5E7E-6444-45A3-88A2-C910267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334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公式構造を理解。今回は順方向ダイナミクスだけを検証する。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A0269-10CA-4495-93C4-761948C2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D5700-DF27-4C71-AEB1-861B33B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63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63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B6CA3-3C9C-4F55-9C0A-2884862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790700"/>
            <a:ext cx="66294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1D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B1D21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39B11-4F5E-4B81-A8F5-19B08089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362450"/>
            <a:ext cx="3619500" cy="171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207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  <a:hlinkClick xmlns:r="http://schemas.openxmlformats.org/officeDocument/2006/relationships" r:id="R9f00e3cdb9024dfb"/>
              </a:rPr>
              <a:t>NVIDIA公式図</a:t>
            </a: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｜推論系 → 生成系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39631-9B7C-4ABC-A96C-3F90427E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1790700"/>
            <a:ext cx="3790950" cy="10287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6250A8"/>
          </a:solidFill>
          <a:ln xmlns:a="http://schemas.openxmlformats.org/drawingml/2006/main" w="0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現在の観測 + 候補動作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予測未来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0D5D5-4604-464E-AF71-CEA59279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971800"/>
            <a:ext cx="3790950" cy="4572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11430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推論系｜状態と意図を理解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47265-25C1-4F6F-8034-58AC3FF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486150"/>
            <a:ext cx="3790950" cy="4572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11430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生成系｜未来映像と動作を生成</a:t>
            </a:r>
          </a:p>
        </p:txBody>
      </p:sp>
      <p:cxnSp>
        <p:nvCxnSpPr>
          <p:cNvPr id="46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rot="0" flipH="0" flipV="1">
            <a:off x="7620000" y="4000500"/>
            <a:ext cx="379095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B0A1E"/>
            </a:solidFill>
            <a:prstDash val="solid"/>
            <a:tailEnd type="triangle" w="sm" len="sm"/>
          </a:ln>
        </p:spPr>
      </p:cxnSp>
      <p:cxnSp>
        <p:nvCxnSpPr>
          <p:cNvPr id="46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0" flipH="1" flipV="0">
            <a:off x="7620000" y="4514850"/>
            <a:ext cx="37909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7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rot="0" flipH="1" flipV="0">
            <a:off x="742950" y="4876800"/>
            <a:ext cx="457200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B27B4-25AF-4BD5-97D9-165A84AE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81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同一初期状態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EC0E0-2529-41B2-BD7E-A043B85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5181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D"/>
          </a:solidFill>
          <a:ln xmlns:a="http://schemas.openxmlformats.org/drawingml/2006/main" w="14288">
            <a:solidFill>
              <a:srgbClr val="C66A0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C66A05"/>
                </a:solidFill>
                <a:latin typeface="Noto Sans CJK JP"/>
                <a:ea typeface="Noto Sans CJK JP"/>
                <a:cs typeface="Noto Sans CJK JP"/>
              </a:rPr>
              <a:t>動作 A / B /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2EA1E-764D-4722-8748-D9646DE1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5181600"/>
            <a:ext cx="1809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14288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Cosmos予測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E6DAB-E4FA-4AB7-A9AE-1D756B38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5181600"/>
            <a:ext cx="1809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4288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UR10e実行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26DD2-8650-4E36-A914-A833B1D8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5181600"/>
            <a:ext cx="1809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4指標で照合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DF735-9F46-4D25-B924-4C236C06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5295900"/>
            <a:ext cx="323850" cy="361950"/>
          </a:xfrm>
          <a:prstGeom xmlns:a="http://schemas.openxmlformats.org/drawingml/2006/main" prst="roundRect">
            <a:avLst>
              <a:gd name="adj" fmla="val 225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83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0D621-883B-4741-A27F-81AE791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5295900"/>
            <a:ext cx="323850" cy="361950"/>
          </a:xfrm>
          <a:prstGeom xmlns:a="http://schemas.openxmlformats.org/drawingml/2006/main" prst="roundRect">
            <a:avLst>
              <a:gd name="adj" fmla="val 225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83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6324B-8561-4005-8767-830E46F7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5295900"/>
            <a:ext cx="323850" cy="361950"/>
          </a:xfrm>
          <a:prstGeom xmlns:a="http://schemas.openxmlformats.org/drawingml/2006/main" prst="roundRect">
            <a:avLst>
              <a:gd name="adj" fmla="val 2258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83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cxnSp>
        <p:nvCxnSpPr>
          <p:cNvPr id="47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0" flipH="0" flipV="0">
            <a:off x="8953500" y="5295900"/>
            <a:ext cx="32385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8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rot="0" flipH="0" flipV="0">
            <a:off x="742950" y="5848350"/>
            <a:ext cx="685800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8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rot="0" flipH="1" flipV="0">
            <a:off x="7829550" y="5848350"/>
            <a:ext cx="16764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087F75"/>
            </a:solidFill>
            <a:prstDash val="solid"/>
            <a:tailEnd type="triangle" w="sm" len="sm"/>
          </a:ln>
        </p:spPr>
      </p:cxnSp>
      <p:cxnSp>
        <p:nvCxnSpPr>
          <p:cNvPr id="48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rot="0" flipH="0" flipV="0">
            <a:off x="9582150" y="5848350"/>
            <a:ext cx="18288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EB0A1E"/>
            </a:solidFill>
            <a:prstDash val="solid"/>
            <a:tailEnd type="triangle" w="sm" len="sm"/>
          </a:ln>
        </p:spPr>
      </p:cxnSp>
      <p:cxnSp>
        <p:nvCxnSpPr>
          <p:cNvPr id="48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484" name=""/>
          <p:cNvCxnSpPr>
            <a:stCxn xmlns:a="http://schemas.openxmlformats.org/drawingml/2006/main" id="21" idx="2"/>
            <a:endCxn xmlns:a="http://schemas.openxmlformats.org/drawingml/2006/main" id="17" idx="2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8576B4-39A4-4C87-8E25-D2ECD428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05806-E499-46F2-81B5-1C77E867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520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93D7E-ECAE-4635-B24C-DB51F838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89BEF-7727-445D-A6E9-101DF16B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EEF6D-4248-4BB4-9487-BD56AFB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63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C14632-6D9B-4008-AD42-E183E4E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D10F5-1C73-40F7-B5DD-DA49467B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DB53B9-E8D9-4C9E-8C03-18E5BF7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CEAD99-BFB5-413D-BB46-250D5DFB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8F60E-995A-4DB4-9E09-9AE1554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76A3B2-5988-424A-91F5-C906139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AAE0E7-8B83-4E63-A340-070A78DE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63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64682F-C2A0-47C8-962A-DA564A6B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25108A-FF67-46DA-96BF-9F551E35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51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63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453A0B-B4A2-461C-9479-605116EA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63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C7F996-A11F-4653-918C-6546A80C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2215C9-6E51-40A4-AEBC-CC3AAFA6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377294-7463-402F-A296-65B87E4B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社内技術立案案｜NVIDIA公式図を引用。PoCでは直接制御しない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F699F0-8BC4-4449-A5C2-CF920553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8 / 11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F3BD70B-4714-4E66-AE2B-E0CF41E6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529F7A1-CCB1-444C-BD11-2E40B808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3083BFA-AC0B-4C84-B677-9E48F4A2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4BC14CB-4581-4FC2-844C-24C8C31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A28F2AE-DFE6-4A01-8C00-728DFE55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pic>
        <p:nvPicPr>
          <p:cNvPr id="5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afff7f0a74919"/>
          <a:stretch xmlns:a="http://schemas.openxmlformats.org/drawingml/2006/main"/>
        </p:blipFill>
        <p:spPr>
          <a:xfrm xmlns:a="http://schemas.openxmlformats.org/drawingml/2006/main">
            <a:off x="841110" y="1981200"/>
            <a:ext cx="6433081" cy="2657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88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29DFBD-E567-4D60-927B-3C0C719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07 / TOYOTA NET + NVIDIA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F2240-A4E6-4287-B73C-8C80A7C7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0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Cosmos 3が不足なら、Toyota Netを「結果」から「因果」へ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432D7-4926-40C5-8FEB-5FFC61E2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495F1-6770-45DD-B5B7-EA45746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9601-D564-49AB-AF43-CA02D5F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581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63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63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旧OK/NGに動作を後付けしない。歯車実験から完全な履歴を記録。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DDDCF-7413-410C-A550-4942FDC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77999-D081-4DC6-81AD-BCA3B3D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EA0A-BF64-4219-BF8E-CF2F0C1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133600"/>
            <a:ext cx="2381250" cy="1066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524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Toyota Net｜既存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OK/NG・品質・工程外れ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0C2A46"/>
                </a:solidFill>
                <a:latin typeface="Noto Sans CJK JP"/>
                <a:ea typeface="Noto Sans CJK JP"/>
                <a:cs typeface="Noto Sans CJK JP"/>
              </a:rPr>
              <a:t>異常の事前分布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E6E30-7197-4C31-8011-CF57375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2724150"/>
            <a:ext cx="419100" cy="3619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646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↘</a:t>
            </a:r>
          </a:p>
        </p:txBody>
      </p:sp>
      <p:cxnSp>
        <p:nvCxnSpPr>
          <p:cNvPr id="37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0" flipH="0" flipV="0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C7349-3F6F-43D8-97E2-CA640F4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746F2-B0B0-448A-8305-0DF7142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CA1F8-E01B-4B04-A1C1-CEF31D6D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562350"/>
            <a:ext cx="238125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15240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新規 歯車／実証履歴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映像・状態・動作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F/T・結果・復旧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C18A6-A9C3-4986-A509-BFAD49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781300"/>
            <a:ext cx="2400300" cy="13525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Toyota Net 次版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7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製造因果データ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6373-7242-417E-ABDA-65C36C7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2781300"/>
            <a:ext cx="2095500" cy="13525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15240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基盤モデル vs 適応後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条件統制比較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E0E9C-5792-4AA3-A31B-1C6252B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2647950"/>
            <a:ext cx="2228850" cy="1619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NVIDIA共同開発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トヨタ製造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世界モデル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A9F7-6D4A-4735-8B1F-0A8FA9F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cxnSp>
        <p:nvCxnSpPr>
          <p:cNvPr id="38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rot="0" flipH="0" flipV="1">
            <a:off x="3124200" y="3457575"/>
            <a:ext cx="5715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8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rot="0" flipH="0" flipV="0">
            <a:off x="6096000" y="34575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8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rot="0" flipH="0" flipV="0">
            <a:off x="8686800" y="34575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0" flipH="1" flipV="1">
            <a:off x="0" y="4763"/>
            <a:ext cx="11410950" cy="3452813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D1F76-0F85-4455-BF87-3862FDD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F2A4A-44FF-4572-9928-C9ABFFA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0B846-3C3D-4AF7-98C9-888407D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E57C6-15AC-4F55-B76C-F694C43A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AEC37-E212-4EA1-831E-CC3BD17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19614-FF20-4215-840E-51F3230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98BA2-8E69-45EA-AEB8-00AAE75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54A4D-EEBB-4AB4-B1A9-A6A80044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9259F-CE4F-4DBC-9DE1-43B5786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29625-01D8-435F-AC12-EC08548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59D63-93BD-49D5-B2A6-D31A15D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4087C-16E8-46FA-92D5-0281A4A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62D24-AAA7-4AE9-A106-F116F31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7A217-D8CA-4619-8CDF-928E520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4B53B-3C55-4E2B-8AA8-1588C0E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F9245-D563-4EF1-B744-2A581F1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9D68B4-C850-4AB5-996B-95B5030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16DDA-0592-4703-88D8-C0DD49A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105400"/>
            <a:ext cx="10668000" cy="952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DB15F-FF73-4AF0-B8B6-0E076FF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2768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共同開発パッケージ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76437-6BCC-4AAE-AC6E-E6C9CC7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5200650"/>
            <a:ext cx="893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① 再現可能な実機　② 成功・失敗・復旧軌跡　③ 凍結評価　④ 基盤モデル比較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CB1BD-0714-4678-8268-4AD145F2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810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画像提供が目的ではない。動作結果を予測するトヨタ専用世界モデルを共同開発。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83012-24DE-46C1-8D0B-46268A0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F95559-E0A2-4809-BAA9-9AA75DA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90F91A-D40E-448B-8B84-027A071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78481D-2331-499F-AA9C-298A6F3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001C69-2D3F-4135-9B14-08E2DE6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C431B4-2E7B-43FB-A968-945159F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D9904-54F1-477A-8A8D-1EEF058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BF65FD-55E3-499C-8ADE-F4E9BE4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CA7973-FA39-49BB-BE26-085B0DB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C2A46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CAB2F3-F188-40CD-8C44-1CFA80E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AA51F1-2066-4AF3-A133-716A291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社内技術立案案｜Toyota Netの名称を継承。旧データは品質、新実験は動作指令→結果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B0E51F-83E1-4CEB-95C5-08D3718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561367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29DFBD-E567-4D60-927B-3C0C719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08 / 到達像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F2240-A4E6-4287-B73C-8C80A7C7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92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二つの能力で「ニンベンのついた自働化」を次へ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432D7-4926-40C5-8FEB-5FFC61E2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495F1-6770-45DD-B5B7-EA45746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9601-D564-49AB-AF43-CA02D5FD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581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強化学習：精密にやり切る。世界モデル：動く前に結果を読む。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DDDCF-7413-410C-A550-4942FDC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77999-D081-4DC6-81AD-BCA3B3D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057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能力1｜精密接触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EA0A-BF64-4219-BF8E-CF2F0C1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438400"/>
            <a:ext cx="1676400" cy="723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CE8EB"/>
          </a:solidFill>
          <a:ln xmlns:a="http://schemas.openxmlformats.org/drawingml/2006/main" w="952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A30014"/>
                </a:solidFill>
                <a:latin typeface="Noto Sans CJK JP"/>
                <a:ea typeface="Noto Sans CJK JP"/>
                <a:cs typeface="Noto Sans CJK JP"/>
              </a:rPr>
              <a:t>F/T + 状態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E6E30-7197-4C31-8011-CF57375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628900"/>
            <a:ext cx="361950" cy="3619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8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cxnSp>
        <p:nvCxnSpPr>
          <p:cNvPr id="37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rot="0" flipH="0" flipV="0">
            <a:off x="9220200" y="2628900"/>
            <a:ext cx="28575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C7349-3F6F-43D8-97E2-CA640F40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2481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746F2-B0B0-448A-8305-0DF7142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CA1F8-E01B-4B04-A1C1-CEF31D6D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2438400"/>
            <a:ext cx="1962150" cy="723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952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強化学習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接触方策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C18A6-A9C3-4986-A509-BFAD490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324100"/>
            <a:ext cx="2324100" cy="9525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4F2"/>
          </a:solidFill>
          <a:ln xmlns:a="http://schemas.openxmlformats.org/drawingml/2006/main" w="9525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挿入・接続・クリップ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+ 自律復旧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E6373-7242-417E-ABDA-65C36C7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4057650"/>
            <a:ext cx="1676400" cy="723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状態 + 動作指令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E0E9C-5792-4AA3-A31B-1C6252B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057650"/>
            <a:ext cx="1962150" cy="723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250A8"/>
          </a:solidFill>
          <a:ln xmlns:a="http://schemas.openxmlformats.org/drawingml/2006/main" w="9525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世界モデル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A9F7-6D4A-4735-8B1F-0A8FA9F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cxnSp>
        <p:nvCxnSpPr>
          <p:cNvPr id="38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rot="0" flipH="0" flipV="0">
            <a:off x="4876800" y="28003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8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rot="0" flipH="1" flipV="0">
            <a:off x="2476500" y="4248150"/>
            <a:ext cx="36195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8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rot="0" flipH="0" flipV="0">
            <a:off x="4933950" y="4248150"/>
            <a:ext cx="36195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cxnSp>
        <p:nvCxnSpPr>
          <p:cNvPr id="39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rot="0" flipH="1" flipV="1">
            <a:off x="0" y="4763"/>
            <a:ext cx="4876800" cy="4414838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D1F76-0F85-4455-BF87-3862FDD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F2A4A-44FF-4572-9928-C9ABFFA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0B846-3C3D-4AF7-98C9-888407D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E57C6-15AC-4F55-B76C-F694C43A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AEC37-E212-4EA1-831E-CC3BD17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19614-FF20-4215-840E-51F3230B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98BA2-8E69-45EA-AEB8-00AAE75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87F75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54A4D-EEBB-4AB4-B1A9-A6A80044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9259F-CE4F-4DBC-9DE1-43B5786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829625-01D8-435F-AC12-EC08548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59D63-93BD-49D5-B2A6-D31A15D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EB0A1E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4087C-16E8-46FA-92D5-0281A4A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62D24-AAA7-4AE9-A106-F116F31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3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D7A217-D8CA-4619-8CDF-928E520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4B53B-3C55-4E2B-8AA8-1588C0E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6250A8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4F9245-D563-4EF1-B744-2A581F1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11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9D68B4-C850-4AB5-996B-95B5030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16DDA-0592-4703-88D8-C0DD49A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438400"/>
            <a:ext cx="1352550" cy="7239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6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やり切れる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DB15F-FF73-4AF0-B8B6-0E076FF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676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1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能力2｜結果予測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676437-6BCC-4AAE-AC6E-E6C9CC7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3943350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未来・危険度を予測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許可・拒否・復旧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CB1BD-0714-4678-8268-4AD145F2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405765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動く前に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42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危険が分かる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83012-24DE-46C1-8D0B-46268A0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280035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A1E"/>
          </a:solidFill>
          <a:ln xmlns:a="http://schemas.openxmlformats.org/drawingml/2006/main" w="9525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トヨタ判定層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5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+ PLC・アンドン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F95559-E0A2-4809-BAA9-9AA75DA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052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90F91A-D40E-448B-8B84-027A0716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4305300"/>
            <a:ext cx="1905000" cy="8763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自律復旧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自律改善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78481D-2331-499F-AA9C-298A6F3F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5486400"/>
            <a:ext cx="10668000" cy="9525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F646D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001C69-2D3F-4135-9B14-08E2DE6D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715000"/>
            <a:ext cx="952500" cy="28575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異常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C431B4-2E7B-43FB-A968-945159F8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5715000"/>
            <a:ext cx="1143000" cy="28575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→ 理解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D9904-54F1-477A-8A8D-1EEF058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715000"/>
            <a:ext cx="2000250" cy="28575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087F75"/>
                </a:solidFill>
                <a:latin typeface="Noto Sans CJK JP"/>
                <a:ea typeface="Noto Sans CJK JP"/>
                <a:cs typeface="Noto Sans CJK JP"/>
              </a:rPr>
              <a:t>→ 安全退避・復旧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BF65FD-55E3-499C-8ADE-F4E9BE4E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5715000"/>
            <a:ext cx="1333500" cy="28575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2B6CB0"/>
                </a:solidFill>
                <a:latin typeface="Noto Sans CJK JP"/>
                <a:ea typeface="Noto Sans CJK JP"/>
                <a:cs typeface="Noto Sans CJK JP"/>
              </a:rPr>
              <a:t>→ 再作業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CA7973-FA39-49BB-BE26-085B0DB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5715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→ 学習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CAB2F3-F188-40CD-8C44-1CFA80E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AA51F1-2066-4AF3-A133-716A2917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社内技術立案案｜現行の自働化・工程条件・安全・品質用語を置き換えない提案構想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B0E51F-83E1-4CEB-95C5-08D3718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561367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4F0796-32FB-4C2B-9D5E-490C171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238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09 / 26週間 実行計画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6FE6C-F336-49F8-9882-9B23CA11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775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26週間・8タスク｜強化学習を先行、安全予測は後段で検証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89D30-A830-4EC4-9B94-5FBCEBF7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334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0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2026-08-24 → 2027-02-19｜週単位。各矢印に週番号・実日付。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87B25-10B8-49B5-80DC-1C9ADE8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200" b="1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AAB24-3543-4A5F-AF6D-42BA84E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2C70-BC38-405B-8493-AA45F0F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0399A-5945-41AB-995F-89E7E074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1733550"/>
            <a:ext cx="309196" cy="2667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675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3B979-97C1-4D03-9322-5891DBF4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1046" y="1733550"/>
            <a:ext cx="1236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4C6AD-9AC6-4819-AFC8-6E7204C4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7831" y="1733550"/>
            <a:ext cx="1545981" cy="2667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63F9E-2BD9-4702-B952-A01F5FA8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3812" y="1733550"/>
            <a:ext cx="1236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28066-61E4-44BC-97DE-766D002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0596" y="1733550"/>
            <a:ext cx="1236785" cy="2667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AD159-F4D6-41D3-A4BA-F50B42F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381" y="1733550"/>
            <a:ext cx="123678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8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4E122-6B17-4D2F-BD44-D86BD245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4165" y="1733550"/>
            <a:ext cx="1236785" cy="2667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863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F54C1-8E3D-4B0D-84C9-E6502AFF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2019300"/>
            <a:ext cx="3091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W1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D3CEE-78C5-4B85-A2D7-DA4CAD2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1046" y="2019300"/>
            <a:ext cx="309196" cy="2095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64FAF-3B98-45D2-B4AC-A9F66D98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0242" y="2019300"/>
            <a:ext cx="3091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F0E33-49CB-4A1A-89A3-C73FBF0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9438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B2939-9C09-434F-8473-94A29749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8635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82186-675A-487A-B8DD-4D1CEC96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7831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A41BD-542B-4B98-BA02-BFF9AC0E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027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5486D-FED5-4C5E-8FB2-DBD71EE1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6223" y="2019300"/>
            <a:ext cx="309196" cy="2095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7B642-EE98-4C3C-AC3B-8F14C02E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5419" y="2019300"/>
            <a:ext cx="3091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FA28B-3E91-451C-88BF-6E53B95A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4615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ACC76-36E9-40E2-B3FB-5B772947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3812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4682D-CF52-450D-8220-D03A35D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3008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2BAB9-BF99-49A4-B301-633F3A27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204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52749-0DA9-4AD1-A0C0-7AD04E7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2019300"/>
            <a:ext cx="309196" cy="2095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9D64B-BD06-466A-823B-49448A47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0596" y="2019300"/>
            <a:ext cx="3091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2ECD6-DE56-404C-88E4-D44B076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9792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5482C5-7353-4295-AC64-5E3D95A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8988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FF226-01E1-4234-AD7E-17E9C54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8185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0397F-2CD6-44AC-B249-C25388A9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381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ACFA5A-A51B-4554-BD7E-D7D0A4D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6577" y="2019300"/>
            <a:ext cx="309196" cy="2095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B4051F-BA4F-441B-9749-E1582660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5773" y="2019300"/>
            <a:ext cx="30919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15FDE3-FFF9-467D-ADF2-D3006DD4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969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FBD8D1-B36A-4F8B-B09B-C5CE3B11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4165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W23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02BAD-8D85-468D-8E25-9679C05A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3362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W24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0377C2-0AAD-4395-AF9E-5883D550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2558" y="2019300"/>
            <a:ext cx="309196" cy="2095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W25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E049C7-90B7-466A-B488-27224B2A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1754" y="2019300"/>
            <a:ext cx="309196" cy="20955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13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W26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F942FA-EB9C-4439-8EFE-A494F7C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3812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強化学習｜グリッパ発注・受入・立上げ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W1–W8  |  8/24–10/16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78C0D6-DD6E-4A85-A134-93E9238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819400"/>
            <a:ext cx="2457450" cy="3810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269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強化学習｜爪改造・CAD・3D造形・デジタルツイン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W1–W8  |  8/24–10/16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E2081F-FA34-474A-8695-544A11DB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257550"/>
            <a:ext cx="2457450" cy="3810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強化学習｜NVIDIA基準系再現・UR移行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W1–W8  |  8/24–10/16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2CDE71-B8A3-44D5-A4CC-EE588F3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695700"/>
            <a:ext cx="2457450" cy="3810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強化学習｜同定・DR・待機位置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W7–W11  |  10/05–11/06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7922E4-58DD-4625-96CD-1D8DD48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133850"/>
            <a:ext cx="2457450" cy="3810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強化学習｜歯車実機・復旧・既存基盤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W11–W16  |  11/02–12/11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C5D7FD-FFC3-49E6-A16C-2F7EB4C9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572000"/>
            <a:ext cx="2457450" cy="3810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869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強化学習｜トヨタ難作業実証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W17–W21  |  12/14–01/15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33ED11-AC00-43D5-B9F3-347C9F20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50101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世界モデル｜履歴・Toyota Net次版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W2–W24  |  08/31–02/05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9F247B-B145-41C7-85C4-44EF4D3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5448300"/>
            <a:ext cx="2457450" cy="3810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555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世界モデル｜Cosmos評価・NVIDIA共同提案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75" b="1">
                <a:solidFill>
                  <a:srgbClr val="1B1D21"/>
                </a:solidFill>
                <a:latin typeface="Noto Sans CJK JP"/>
                <a:ea typeface="Noto Sans CJK JP"/>
                <a:cs typeface="Noto Sans CJK JP"/>
              </a:rPr>
              <a:t>W22–W26  |  01/18–02/19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EB3BA9-A525-46A8-8569-5E0F0D3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457450"/>
            <a:ext cx="2406894" cy="2381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B0A1E"/>
          </a:solidFill>
          <a:ln xmlns:a="http://schemas.openxmlformats.org/drawingml/2006/main" w="0">
            <a:solidFill>
              <a:srgbClr val="EB0A1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ACFE77-0432-4FD6-85FF-9F0A8B75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895600"/>
            <a:ext cx="2406894" cy="2381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C66A05"/>
          </a:solidFill>
          <a:ln xmlns:a="http://schemas.openxmlformats.org/drawingml/2006/main" w="0">
            <a:solidFill>
              <a:srgbClr val="C66A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2F75F5-EFC5-4CEF-9FC8-B0D3B8E8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333750"/>
            <a:ext cx="2406894" cy="2381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2B6CB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 b="1">
                <a:solidFill>
                  <a:srgbClr val="2B6CB0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C08AE0-091E-43CA-B42C-52F5E06D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6077" y="3771900"/>
            <a:ext cx="1479306" cy="2381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7F75"/>
          </a:solidFill>
          <a:ln xmlns:a="http://schemas.openxmlformats.org/drawingml/2006/main" w="0">
            <a:solidFill>
              <a:srgbClr val="087F7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52B35-032B-4AAD-A873-785FB754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2862" y="4210050"/>
            <a:ext cx="1788502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0014"/>
          </a:solidFill>
          <a:ln xmlns:a="http://schemas.openxmlformats.org/drawingml/2006/main" w="0">
            <a:solidFill>
              <a:srgbClr val="A30014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8" b="1">
                <a:solidFill>
                  <a:srgbClr val="A3001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C1CCC3-21FD-45E8-99D0-D9AD0239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8038" y="4648200"/>
            <a:ext cx="1479306" cy="2381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C66A05"/>
          </a:solidFill>
          <a:ln xmlns:a="http://schemas.openxmlformats.org/drawingml/2006/main" w="0">
            <a:solidFill>
              <a:srgbClr val="C66A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D8AF02-322E-423B-8A41-10FE321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0096" y="5086350"/>
            <a:ext cx="7044837" cy="2381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6250A8"/>
          </a:solidFill>
          <a:ln xmlns:a="http://schemas.openxmlformats.org/drawingml/2006/main" w="0">
            <a:solidFill>
              <a:srgbClr val="6250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全ての新規実験を継続記録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A0B3F7-A8CE-4268-981A-4F5A7DD3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4019" y="5524500"/>
            <a:ext cx="1479306" cy="2381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3D6BAB-5756-43FB-895A-7CCD8CD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5869" y="2409825"/>
            <a:ext cx="200025" cy="3238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37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17F2B2-F2D6-4461-B676-EA5E26DF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5869" y="2847975"/>
            <a:ext cx="200025" cy="3238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00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A65D81-6B59-4BA3-9926-ADADA6B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5869" y="3286125"/>
            <a:ext cx="200025" cy="3238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00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94A203-B39F-440A-8365-4D95593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3458" y="3724275"/>
            <a:ext cx="200025" cy="3238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00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836B64-7E4F-41F2-B24A-14F421C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9438" y="4162425"/>
            <a:ext cx="200025" cy="3238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00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32BEFD-D034-4EBA-911B-B0394E21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5419" y="4600575"/>
            <a:ext cx="200025" cy="3238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00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F825C9-ADEA-4557-B1E4-850C155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3008" y="5038725"/>
            <a:ext cx="200025" cy="3238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00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9D9FAC-90D5-4B3A-B66A-2AE68F52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5476875"/>
            <a:ext cx="200025" cy="3238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00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950" b="1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4D5867-302E-4381-99DD-EDC6425B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36220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381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19050" tIns="0" rIns="9525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F964971-683C-47B0-9362-7991667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80035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381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19050" tIns="0" rIns="9525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459035-0D1D-449E-B211-5579E01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23850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381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19050" tIns="0" rIns="9525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280357-113C-4CD0-99BD-299E8555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7665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381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19050" tIns="0" rIns="9525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F98943-A134-43FC-B7C6-E65E7AA4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11480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381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square" lIns="19050" tIns="0" rIns="9525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" b="0">
                <a:solidFill>
                  <a:srgbClr val="8C919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D01E4A-6941-4421-996B-936C3E4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55295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3810">
            <a:solidFill>
              <a:srgbClr val="D9DCE1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358527-EB1A-4E82-9262-8CC51142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99110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6250A8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4A4E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4A4E54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9A7626-7E67-46DB-8C5A-1787A541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429250"/>
            <a:ext cx="10782300" cy="4191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7620">
            <a:solidFill>
              <a:srgbClr val="6250A8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C9769B-8435-4869-BB03-9ACC9485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5735" y="5905500"/>
            <a:ext cx="514350" cy="2095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▼ G1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6AF511-CD93-4674-B3EB-05DB986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2519" y="5905500"/>
            <a:ext cx="514350" cy="2095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▼ G2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7B4364-37DD-4CB4-98B0-47B38395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0108" y="5905500"/>
            <a:ext cx="514350" cy="2095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▼ G3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15B1BF-6914-4C90-94C9-50A7D5E5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6088" y="5905500"/>
            <a:ext cx="514350" cy="2095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▼ G4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2D5894-D09B-49BA-BD44-AB91B6BF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2069" y="5905500"/>
            <a:ext cx="514350" cy="2095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50" b="1">
                <a:solidFill>
                  <a:srgbClr val="5F646D"/>
                </a:solidFill>
                <a:latin typeface="Noto Sans CJK JP"/>
                <a:ea typeface="Noto Sans CJK JP"/>
                <a:cs typeface="Noto Sans CJK JP"/>
              </a:rPr>
              <a:t>▼ G5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837085-6A60-46F7-BF4A-38C79A7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8050" y="5905500"/>
            <a:ext cx="647700" cy="2095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788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▼ FINAL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56A2A86-3F22-49C8-82D8-7839F192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F65DEA-F60B-46E4-BFCF-4C2DB913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250ECA-AC26-4609-A840-15E35A2C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7CFBC1-4AD5-4438-875E-EA1FA74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393748-E495-42EB-96E1-954E6D85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A9AE35-21E5-437D-92DF-33204AB0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CFD3FA-84FA-416C-8944-FCB847A9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1B45264-94ED-4C42-8E4F-96DFE31B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6191250"/>
            <a:ext cx="1047750" cy="190500"/>
          </a:xfrm>
          <a:prstGeom xmlns:a="http://schemas.openxmlformats.org/drawingml/2006/main" prst="roundRect">
            <a:avLst>
              <a:gd name="adj" fmla="val 148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4983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38" b="1">
                <a:solidFill>
                  <a:srgbClr val="EB0A1E"/>
                </a:solidFill>
                <a:latin typeface="Noto Sans CJK JP"/>
                <a:ea typeface="Noto Sans CJK JP"/>
                <a:cs typeface="Noto Sans CJK JP"/>
              </a:rPr>
              <a:t>強化学習 主軸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0B6C82-E6FF-4629-84A3-A8469B2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61341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050" b="1">
                <a:solidFill>
                  <a:srgbClr val="101114"/>
                </a:solidFill>
                <a:latin typeface="Noto Sans CJK JP"/>
                <a:ea typeface="Noto Sans CJK JP"/>
                <a:cs typeface="Noto Sans CJK JP"/>
              </a:rPr>
              <a:t>基準系 → 同定・DR → 実機 → 復旧 → トヨタ実証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FC7285-394C-4CBC-A74D-219F2360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6191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38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世界モデル 副軸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01419A-6390-4F83-8A04-5F548E40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61341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5321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38" b="1">
                <a:solidFill>
                  <a:srgbClr val="6250A8"/>
                </a:solidFill>
                <a:latin typeface="Noto Sans CJK JP"/>
                <a:ea typeface="Noto Sans CJK JP"/>
                <a:cs typeface="Noto Sans CJK JP"/>
              </a:rPr>
              <a:t>履歴 → Toyota Net次版 → Cosmos評価 → NVIDIA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A560B7-50AD-4903-8717-25E9C443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0759D1-6D41-4A1F-9A1D-929175C4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760F0B-3454-49F3-9282-61239FBE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996047F-53CB-43BF-BFC9-683AC403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28D40B2-1B6B-4B19-83F9-836BFD85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43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1"/>
          </a:solidFill>
          <a:ln xmlns:a="http://schemas.openxmlformats.org/drawingml/2006/main" w="0">
            <a:solidFill>
              <a:srgbClr val="D9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F2B20F7-60C4-487B-95B4-030D55AB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81775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社内技術立案案｜調達納期、安全審査、現場日程を確定後に実績更新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EBFE899-A1B5-47BE-BAB4-F285F7B6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5817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900" b="0">
                <a:solidFill>
                  <a:srgbClr val="8C919A"/>
                </a:solidFill>
                <a:latin typeface="Noto Sans CJK JP"/>
                <a:ea typeface="Noto Sans CJK JP"/>
                <a:cs typeface="Noto Sans CJK JP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721321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2026-08-21T08:26:01.1210000Z</dcterms:created>
  <dcterms:modified xsi:type="dcterms:W3CDTF">2026-08-21T08:26:01.1210000Z</dcterms:modified>
</coreProperties>
</file>